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embeddedFontLst>
    <p:embeddedFont>
      <p:font typeface="Roboto"/>
      <p:regular r:id="rId38"/>
      <p:bold r:id="rId39"/>
      <p:italic r:id="rId40"/>
      <p:boldItalic r:id="rId41"/>
    </p:embeddedFont>
    <p:embeddedFont>
      <p:font typeface="Fira Sans"/>
      <p:regular r:id="rId42"/>
      <p:bold r:id="rId43"/>
      <p:italic r:id="rId44"/>
      <p:boldItalic r:id="rId45"/>
    </p:embeddedFont>
    <p:embeddedFont>
      <p:font typeface="Fira Sans Extra Condensed"/>
      <p:regular r:id="rId46"/>
      <p:bold r:id="rId47"/>
      <p:italic r:id="rId48"/>
      <p:boldItalic r:id="rId49"/>
    </p:embeddedFont>
    <p:embeddedFont>
      <p:font typeface="Merriweather"/>
      <p:regular r:id="rId50"/>
      <p:bold r:id="rId51"/>
      <p:italic r:id="rId52"/>
      <p:boldItalic r:id="rId53"/>
    </p:embeddedFont>
    <p:embeddedFont>
      <p:font typeface="DM Sans"/>
      <p:regular r:id="rId54"/>
      <p:bold r:id="rId55"/>
      <p:italic r:id="rId56"/>
      <p:boldItalic r:id="rId57"/>
    </p:embeddedFont>
    <p:embeddedFont>
      <p:font typeface="Fira Sans Extra Condensed SemiBold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2" roundtripDataSignature="AMtx7mhoE9nwibM7rwnGQ/T4NAnzDbNL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25BF741-B812-4D06-B7B5-CDA37771B745}">
  <a:tblStyle styleId="{025BF741-B812-4D06-B7B5-CDA37771B745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F8FF935-231D-43A8-8CCE-B2CE036F9F5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8"/>
          </a:solidFill>
        </a:fill>
      </a:tcStyle>
    </a:wholeTbl>
    <a:band1H>
      <a:tcTxStyle/>
      <a:tcStyle>
        <a:fill>
          <a:solidFill>
            <a:srgbClr val="CCE2F1"/>
          </a:solidFill>
        </a:fill>
      </a:tcStyle>
    </a:band1H>
    <a:band2H>
      <a:tcTxStyle/>
    </a:band2H>
    <a:band1V>
      <a:tcTxStyle/>
      <a:tcStyle>
        <a:fill>
          <a:solidFill>
            <a:srgbClr val="CCE2F1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4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4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4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4"/>
          </a:solidFill>
        </a:fill>
      </a:tcStyle>
    </a:firstRow>
    <a:neCell>
      <a:tcTxStyle/>
    </a:neCell>
    <a:nwCell>
      <a:tcTxStyle/>
    </a:nwCell>
  </a:tblStyle>
  <a:tblStyle styleId="{A87A309D-3529-438B-9B2C-0AB021E1C48D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F6F8"/>
          </a:solidFill>
        </a:fill>
      </a:tcStyle>
    </a:wholeTbl>
    <a:band1H>
      <a:tcTxStyle/>
      <a:tcStyle>
        <a:fill>
          <a:solidFill>
            <a:srgbClr val="D1EEF1"/>
          </a:solidFill>
        </a:fill>
      </a:tcStyle>
    </a:band1H>
    <a:band2H>
      <a:tcTxStyle/>
    </a:band2H>
    <a:band1V>
      <a:tcTxStyle/>
      <a:tcStyle>
        <a:fill>
          <a:solidFill>
            <a:srgbClr val="D1EEF1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9F6F8"/>
          </a:solidFill>
        </a:fill>
      </a:tcStyle>
    </a:lastRow>
    <a:seCell>
      <a:tcTxStyle/>
    </a:seCell>
    <a:swCell>
      <a:tcTxStyle/>
    </a:swCell>
    <a:firstRow>
      <a:tcTxStyle b="on" i="off"/>
      <a:tcStyle>
        <a:fill>
          <a:solidFill>
            <a:srgbClr val="E9F6F8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italic.fntdata"/><Relationship Id="rId42" Type="http://schemas.openxmlformats.org/officeDocument/2006/relationships/font" Target="fonts/FiraSans-regular.fntdata"/><Relationship Id="rId41" Type="http://schemas.openxmlformats.org/officeDocument/2006/relationships/font" Target="fonts/Roboto-boldItalic.fntdata"/><Relationship Id="rId44" Type="http://schemas.openxmlformats.org/officeDocument/2006/relationships/font" Target="fonts/FiraSans-italic.fntdata"/><Relationship Id="rId43" Type="http://schemas.openxmlformats.org/officeDocument/2006/relationships/font" Target="fonts/FiraSans-bold.fntdata"/><Relationship Id="rId46" Type="http://schemas.openxmlformats.org/officeDocument/2006/relationships/font" Target="fonts/FiraSansExtraCondensed-regular.fntdata"/><Relationship Id="rId45" Type="http://schemas.openxmlformats.org/officeDocument/2006/relationships/font" Target="fonts/FiraSa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FiraSansExtraCondensed-italic.fntdata"/><Relationship Id="rId47" Type="http://schemas.openxmlformats.org/officeDocument/2006/relationships/font" Target="fonts/FiraSansExtraCondensed-bold.fntdata"/><Relationship Id="rId49" Type="http://schemas.openxmlformats.org/officeDocument/2006/relationships/font" Target="fonts/FiraSansExtraCondense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font" Target="fonts/Roboto-bold.fntdata"/><Relationship Id="rId38" Type="http://schemas.openxmlformats.org/officeDocument/2006/relationships/font" Target="fonts/Roboto-regular.fntdata"/><Relationship Id="rId62" Type="http://customschemas.google.com/relationships/presentationmetadata" Target="metadata"/><Relationship Id="rId61" Type="http://schemas.openxmlformats.org/officeDocument/2006/relationships/font" Target="fonts/FiraSansExtraCondensedSemiBold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FiraSansExtraCondensedSemiBold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Merriweather-bold.fntdata"/><Relationship Id="rId50" Type="http://schemas.openxmlformats.org/officeDocument/2006/relationships/font" Target="fonts/Merriweather-regular.fntdata"/><Relationship Id="rId53" Type="http://schemas.openxmlformats.org/officeDocument/2006/relationships/font" Target="fonts/Merriweather-boldItalic.fntdata"/><Relationship Id="rId52" Type="http://schemas.openxmlformats.org/officeDocument/2006/relationships/font" Target="fonts/Merriweather-italic.fntdata"/><Relationship Id="rId11" Type="http://schemas.openxmlformats.org/officeDocument/2006/relationships/slide" Target="slides/slide6.xml"/><Relationship Id="rId55" Type="http://schemas.openxmlformats.org/officeDocument/2006/relationships/font" Target="fonts/DMSans-bold.fntdata"/><Relationship Id="rId10" Type="http://schemas.openxmlformats.org/officeDocument/2006/relationships/slide" Target="slides/slide5.xml"/><Relationship Id="rId54" Type="http://schemas.openxmlformats.org/officeDocument/2006/relationships/font" Target="fonts/DMSans-regular.fntdata"/><Relationship Id="rId13" Type="http://schemas.openxmlformats.org/officeDocument/2006/relationships/slide" Target="slides/slide8.xml"/><Relationship Id="rId57" Type="http://schemas.openxmlformats.org/officeDocument/2006/relationships/font" Target="fonts/DMSans-boldItalic.fntdata"/><Relationship Id="rId12" Type="http://schemas.openxmlformats.org/officeDocument/2006/relationships/slide" Target="slides/slide7.xml"/><Relationship Id="rId56" Type="http://schemas.openxmlformats.org/officeDocument/2006/relationships/font" Target="fonts/DMSans-italic.fntdata"/><Relationship Id="rId15" Type="http://schemas.openxmlformats.org/officeDocument/2006/relationships/slide" Target="slides/slide10.xml"/><Relationship Id="rId59" Type="http://schemas.openxmlformats.org/officeDocument/2006/relationships/font" Target="fonts/FiraSansExtraCondensedSemiBold-bold.fntdata"/><Relationship Id="rId14" Type="http://schemas.openxmlformats.org/officeDocument/2006/relationships/slide" Target="slides/slide9.xml"/><Relationship Id="rId58" Type="http://schemas.openxmlformats.org/officeDocument/2006/relationships/font" Target="fonts/FiraSansExtraCondensedSemiBold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04d15b1c9_3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f04d15b1c9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04d15b1c9_3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g3f04d15b1c9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04d15b1c9_3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f04d15b1c9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04d15b1c9_3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f04d15b1c9_3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04d15b1c9_3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f04d15b1c9_3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04d15b1c9_3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f04d15b1c9_3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04d15b1c9_3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f04d15b1c9_3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04d15b1c9_3_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f04d15b1c9_3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04d15b1c9_3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f04d15b1c9_3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04d15b1c9_3_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f04d15b1c9_3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04d15b1c9_3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f04d15b1c9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04d15b1c9_3_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f04d15b1c9_3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04d15b1c9_3_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f04d15b1c9_3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04d15b1c9_3_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f04d15b1c9_3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04d15b1c9_3_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04d15b1c9_3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04d15b1c9_3_1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f04d15b1c9_3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04d15b1c9_3_1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f04d15b1c9_3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04d15b1c9_3_1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f04d15b1c9_3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0676c21e0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f0676c21e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0676c21e0_2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f0676c21e0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f1dfb5de8e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3f1dfb5de8e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f1dfb5de8e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g3f1dfb5de8e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f1dfb5de8e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g3f1dfb5de8e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f0676c21e0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g3f0676c21e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 txBox="1"/>
          <p:nvPr>
            <p:ph type="ctrTitle"/>
          </p:nvPr>
        </p:nvSpPr>
        <p:spPr>
          <a:xfrm>
            <a:off x="987356" y="1629550"/>
            <a:ext cx="3422400" cy="15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42"/>
          <p:cNvSpPr txBox="1"/>
          <p:nvPr>
            <p:ph idx="1" type="subTitle"/>
          </p:nvPr>
        </p:nvSpPr>
        <p:spPr>
          <a:xfrm>
            <a:off x="987356" y="3147050"/>
            <a:ext cx="36072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" name="Google Shape;14;p43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4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" name="Google Shape;29;p4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" name="Google Shape;33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" name="Google Shape;37;p5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" name="Google Shape;38;p5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" name="Google Shape;39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2" name="Google Shape;42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5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b="0" i="0" sz="2800" u="none" cap="none" strike="noStrik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/>
        </p:txBody>
      </p:sp>
      <p:sp>
        <p:nvSpPr>
          <p:cNvPr id="7" name="Google Shape;7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3.jpg"/><Relationship Id="rId6" Type="http://schemas.openxmlformats.org/officeDocument/2006/relationships/image" Target="../media/image40.jpg"/><Relationship Id="rId7" Type="http://schemas.openxmlformats.org/officeDocument/2006/relationships/image" Target="../media/image2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3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4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3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jpg"/><Relationship Id="rId4" Type="http://schemas.openxmlformats.org/officeDocument/2006/relationships/image" Target="../media/image16.png"/><Relationship Id="rId5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3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"/>
          <p:cNvSpPr txBox="1"/>
          <p:nvPr>
            <p:ph type="ctrTitle"/>
          </p:nvPr>
        </p:nvSpPr>
        <p:spPr>
          <a:xfrm>
            <a:off x="-3" y="1580075"/>
            <a:ext cx="5076600" cy="15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Computación</a:t>
            </a:r>
            <a:r>
              <a:rPr lang="en"/>
              <a:t> </a:t>
            </a:r>
            <a:r>
              <a:rPr lang="en"/>
              <a:t>Cuántica</a:t>
            </a:r>
            <a:endParaRPr/>
          </a:p>
        </p:txBody>
      </p:sp>
      <p:sp>
        <p:nvSpPr>
          <p:cNvPr id="54" name="Google Shape;54;p1"/>
          <p:cNvSpPr txBox="1"/>
          <p:nvPr>
            <p:ph idx="1" type="subTitle"/>
          </p:nvPr>
        </p:nvSpPr>
        <p:spPr>
          <a:xfrm>
            <a:off x="6" y="3097575"/>
            <a:ext cx="36072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"/>
              <a:t>Dylan y Gustavo</a:t>
            </a:r>
            <a:endParaRPr/>
          </a:p>
        </p:txBody>
      </p:sp>
      <p:pic>
        <p:nvPicPr>
          <p:cNvPr id="55" name="Google Shape;55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275" y="829613"/>
            <a:ext cx="4686724" cy="312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04d15b1c9_3_0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dk1"/>
                </a:solidFill>
              </a:rPr>
              <a:t>Optimização de Carteira com QUBO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⊛ Mapa de América 🥇 MAPAS DEL CONTINENTE AMERICANO" id="61" name="Google Shape;61;g3f04d15b1c9_3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3233" y="1102529"/>
            <a:ext cx="3156437" cy="30878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a Flag Icon Vector Art, Icons, and Graphics for Free Download" id="62" name="Google Shape;62;g3f04d15b1c9_3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477" y="4296333"/>
            <a:ext cx="1359648" cy="8471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ndera paraguay vector 19003341 Vector en Vecteezy" id="63" name="Google Shape;63;g3f04d15b1c9_3_0"/>
          <p:cNvPicPr preferRelativeResize="0"/>
          <p:nvPr/>
        </p:nvPicPr>
        <p:blipFill rotWithShape="1">
          <a:blip r:embed="rId5">
            <a:alphaModFix/>
          </a:blip>
          <a:srcRect b="9401" l="3502" r="3744" t="11312"/>
          <a:stretch/>
        </p:blipFill>
        <p:spPr>
          <a:xfrm>
            <a:off x="4900139" y="4399903"/>
            <a:ext cx="1123094" cy="6400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ndera Argentina Vectores, Iconos, Gráficos y Fondos para Descargar Gratis" id="64" name="Google Shape;64;g3f04d15b1c9_3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20650" y="4399904"/>
            <a:ext cx="1193784" cy="6400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ndera Brasil Vectores, Iconos, Gráficos y Fondos para Descargar Gratis" id="65" name="Google Shape;65;g3f04d15b1c9_3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61753" y="4399904"/>
            <a:ext cx="1159100" cy="64002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3f04d15b1c9_3_0"/>
          <p:cNvSpPr txBox="1"/>
          <p:nvPr/>
        </p:nvSpPr>
        <p:spPr>
          <a:xfrm>
            <a:off x="170955" y="1144660"/>
            <a:ext cx="53595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Em uma carteira, o investidor precisa decidir como </a:t>
            </a: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distribuir</a:t>
            </a:r>
            <a:r>
              <a:rPr b="0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seu capital entre </a:t>
            </a: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diferentes moedas</a:t>
            </a:r>
            <a:r>
              <a:rPr b="0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Levando em consideração: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Retorno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Riscos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Custo de conversão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Perfil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Uma análise com ARS,USD, PYG, BRL e outras moedas .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Moeda base: BRL</a:t>
            </a:r>
            <a:endParaRPr/>
          </a:p>
        </p:txBody>
      </p:sp>
      <p:sp>
        <p:nvSpPr>
          <p:cNvPr id="67" name="Google Shape;67;g3f04d15b1c9_3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04d15b1c9_3_11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dk1"/>
                </a:solidFill>
              </a:rPr>
              <a:t>QUBO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3" name="Google Shape;73;g3f04d15b1c9_3_11"/>
          <p:cNvSpPr txBox="1"/>
          <p:nvPr/>
        </p:nvSpPr>
        <p:spPr>
          <a:xfrm>
            <a:off x="364528" y="892975"/>
            <a:ext cx="5359408" cy="1349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1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Quadratic Unscontrained Binary Optimization 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(Optimização Binária Quadrática sem Restrições)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forma geral é: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g3f04d15b1c9_3_11"/>
          <p:cNvSpPr txBox="1"/>
          <p:nvPr/>
        </p:nvSpPr>
        <p:spPr>
          <a:xfrm>
            <a:off x="364528" y="1935978"/>
            <a:ext cx="4572000" cy="293606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247" l="-40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descr="Computer desktop PC PNG transparent image download, size: 1280x878px" id="75" name="Google Shape;75;g3f04d15b1c9_3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00687" y="1353586"/>
            <a:ext cx="3551473" cy="2436327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3f04d15b1c9_3_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04d15b1c9_3_18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dk1"/>
                </a:solidFill>
              </a:rPr>
              <a:t>Exemplo: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82" name="Google Shape;82;g3f04d15b1c9_3_18"/>
          <p:cNvGraphicFramePr/>
          <p:nvPr/>
        </p:nvGraphicFramePr>
        <p:xfrm>
          <a:off x="568138" y="2103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{025BF741-B812-4D06-B7B5-CDA37771B745}</a:tableStyleId>
              </a:tblPr>
              <a:tblGrid>
                <a:gridCol w="1609350"/>
                <a:gridCol w="1609350"/>
              </a:tblGrid>
              <a:tr h="395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Projeto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Ganho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95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Projeto 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95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Projeto 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95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Projeto 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83" name="Google Shape;83;g3f04d15b1c9_3_18"/>
          <p:cNvSpPr txBox="1"/>
          <p:nvPr/>
        </p:nvSpPr>
        <p:spPr>
          <a:xfrm>
            <a:off x="568138" y="892975"/>
            <a:ext cx="7783382" cy="1210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Considere que uma pessoa deve escolher projetos para investir seu tempo. Existem três projetos disponíveis, com os seguintes ganhos estimados: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4" name="Google Shape;84;g3f04d15b1c9_3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2175" y="1949090"/>
            <a:ext cx="1407308" cy="262443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f04d15b1c9_3_18"/>
          <p:cNvSpPr txBox="1"/>
          <p:nvPr/>
        </p:nvSpPr>
        <p:spPr>
          <a:xfrm>
            <a:off x="-108510" y="4248440"/>
            <a:ext cx="4572000" cy="32508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77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86" name="Google Shape;86;g3f04d15b1c9_3_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04d15b1c9_3_26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dk1"/>
                </a:solidFill>
              </a:rPr>
              <a:t>Exemplo: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92" name="Google Shape;92;g3f04d15b1c9_3_26"/>
          <p:cNvGraphicFramePr/>
          <p:nvPr/>
        </p:nvGraphicFramePr>
        <p:xfrm>
          <a:off x="568138" y="2103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{025BF741-B812-4D06-B7B5-CDA37771B745}</a:tableStyleId>
              </a:tblPr>
              <a:tblGrid>
                <a:gridCol w="1609350"/>
                <a:gridCol w="1609350"/>
              </a:tblGrid>
              <a:tr h="395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Projeto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Ganho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95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Projeto 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95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Projeto 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95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Projeto 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93" name="Google Shape;93;g3f04d15b1c9_3_26"/>
          <p:cNvSpPr txBox="1"/>
          <p:nvPr/>
        </p:nvSpPr>
        <p:spPr>
          <a:xfrm>
            <a:off x="568138" y="892975"/>
            <a:ext cx="7783382" cy="1210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Considere que uma pessoa deve escolher projetos para investir seu tempo. Existem três projetos disponíveis, com os seguintes ganhos estimados: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g3f04d15b1c9_3_26"/>
          <p:cNvSpPr txBox="1"/>
          <p:nvPr/>
        </p:nvSpPr>
        <p:spPr>
          <a:xfrm>
            <a:off x="-108510" y="4248440"/>
            <a:ext cx="4572000" cy="32508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77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95" name="Google Shape;95;g3f04d15b1c9_3_26"/>
          <p:cNvSpPr txBox="1"/>
          <p:nvPr/>
        </p:nvSpPr>
        <p:spPr>
          <a:xfrm>
            <a:off x="4459829" y="1784094"/>
            <a:ext cx="3890458" cy="221990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67583" l="-376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96" name="Google Shape;96;g3f04d15b1c9_3_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04d15b1c9_3_34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dk1"/>
                </a:solidFill>
              </a:rPr>
              <a:t>Exemplo: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2" name="Google Shape;102;g3f04d15b1c9_3_34"/>
          <p:cNvSpPr txBox="1"/>
          <p:nvPr/>
        </p:nvSpPr>
        <p:spPr>
          <a:xfrm>
            <a:off x="457200" y="990511"/>
            <a:ext cx="7552944" cy="349839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4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103" name="Google Shape;103;g3f04d15b1c9_3_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5024" y="1764480"/>
            <a:ext cx="1330240" cy="161454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f04d15b1c9_3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04d15b1c9_3_40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dk1"/>
                </a:solidFill>
              </a:rPr>
              <a:t>Exemplo: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0" name="Google Shape;110;g3f04d15b1c9_3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6218" y="1764480"/>
            <a:ext cx="1330240" cy="161454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g3f04d15b1c9_3_40"/>
          <p:cNvGraphicFramePr/>
          <p:nvPr/>
        </p:nvGraphicFramePr>
        <p:xfrm>
          <a:off x="468736" y="1092009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{AF8FF935-231D-43A8-8CCE-B2CE036F9F52}</a:tableStyleId>
              </a:tblPr>
              <a:tblGrid>
                <a:gridCol w="1259275"/>
                <a:gridCol w="1259975"/>
                <a:gridCol w="1260650"/>
                <a:gridCol w="1483125"/>
                <a:gridCol w="1217000"/>
              </a:tblGrid>
              <a:tr h="435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Interpretação: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8575" marL="68575"/>
                </a:tc>
              </a:tr>
              <a:tr h="28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Nenhum Projeto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8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Projeto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-15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8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Projeto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-14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8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Projeto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-13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8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Projeto 1 e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-9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8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Projeto 1 e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-8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8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Projeto 2 e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-7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1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Todos os Projetos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18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  <p:sp>
        <p:nvSpPr>
          <p:cNvPr id="112" name="Google Shape;112;g3f04d15b1c9_3_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04d15b1c9_3_46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dk1"/>
                </a:solidFill>
              </a:rPr>
              <a:t>Carteira Cambial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8" name="Google Shape;118;g3f04d15b1c9_3_46"/>
          <p:cNvSpPr txBox="1"/>
          <p:nvPr/>
        </p:nvSpPr>
        <p:spPr>
          <a:xfrm>
            <a:off x="457200" y="1041876"/>
            <a:ext cx="4572000" cy="11310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Uma carteira cambial representa a distribuição do capital entre diferentes moedas.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Por exemplo: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allet Cartoon Vector Art, Icons, and Graphics for Free Download" id="119" name="Google Shape;119;g3f04d15b1c9_3_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7875" y="1117997"/>
            <a:ext cx="2921794" cy="292179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f04d15b1c9_3_46"/>
          <p:cNvSpPr txBox="1"/>
          <p:nvPr/>
        </p:nvSpPr>
        <p:spPr>
          <a:xfrm>
            <a:off x="1875965" y="2292065"/>
            <a:ext cx="4572000" cy="150810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descr="dinero en monedas, ilustración, vector sobre fondo blanco 13472134 ..." id="121" name="Google Shape;121;g3f04d15b1c9_3_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4331" y="3046118"/>
            <a:ext cx="1785544" cy="198734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f04d15b1c9_3_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04d15b1c9_3_54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dk1"/>
                </a:solidFill>
              </a:rPr>
              <a:t>Carteira Cambial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Caricatura De Billetera Vacía" id="128" name="Google Shape;128;g3f04d15b1c9_3_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7918" y="973718"/>
            <a:ext cx="2207419" cy="2207419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f04d15b1c9_3_54"/>
          <p:cNvSpPr txBox="1"/>
          <p:nvPr/>
        </p:nvSpPr>
        <p:spPr>
          <a:xfrm>
            <a:off x="535781" y="973718"/>
            <a:ext cx="4572000" cy="141282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400" r="-40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130" name="Google Shape;130;g3f04d15b1c9_3_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34863" y="2300008"/>
            <a:ext cx="1501495" cy="1511797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f04d15b1c9_3_54"/>
          <p:cNvSpPr txBox="1"/>
          <p:nvPr/>
        </p:nvSpPr>
        <p:spPr>
          <a:xfrm>
            <a:off x="-564356" y="2283454"/>
            <a:ext cx="4572000" cy="179536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32" name="Google Shape;132;g3f04d15b1c9_3_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04d15b1c9_3_62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dk1"/>
                </a:solidFill>
              </a:rPr>
              <a:t>Restrição de locação: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8" name="Google Shape;138;g3f04d15b1c9_3_62"/>
          <p:cNvSpPr txBox="1"/>
          <p:nvPr/>
        </p:nvSpPr>
        <p:spPr>
          <a:xfrm>
            <a:off x="457200" y="892975"/>
            <a:ext cx="8151019" cy="401167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607" l="-223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descr="Si o no - Iconos gratis de formas y simbolos" id="139" name="Google Shape;139;g3f04d15b1c9_3_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9394" y="1379934"/>
            <a:ext cx="2355055" cy="235505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f04d15b1c9_3_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04d15b1c9_3_68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dk1"/>
                </a:solidFill>
              </a:rPr>
              <a:t>Perfis de Risco: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6" name="Google Shape;146;g3f04d15b1c9_3_68"/>
          <p:cNvSpPr txBox="1"/>
          <p:nvPr/>
        </p:nvSpPr>
        <p:spPr>
          <a:xfrm>
            <a:off x="457200" y="894865"/>
            <a:ext cx="4572000" cy="381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6129" l="-40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graphicFrame>
        <p:nvGraphicFramePr>
          <p:cNvPr id="147" name="Google Shape;147;g3f04d15b1c9_3_68"/>
          <p:cNvGraphicFramePr/>
          <p:nvPr/>
        </p:nvGraphicFramePr>
        <p:xfrm>
          <a:off x="1994410" y="1372363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{A87A309D-3529-438B-9B2C-0AB021E1C48D}</a:tableStyleId>
              </a:tblPr>
              <a:tblGrid>
                <a:gridCol w="1718025"/>
                <a:gridCol w="1718575"/>
                <a:gridCol w="17185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Perfil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Interpretação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2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Agressivo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Baixo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Prioriza retorno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Moderado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Intermediário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Equilibra retorno e risco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2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Conservador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Alto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/>
                        <a:t>Prioriza estabilidade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  <p:pic>
        <p:nvPicPr>
          <p:cNvPr id="148" name="Google Shape;148;g3f04d15b1c9_3_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4123" y="3304692"/>
            <a:ext cx="3880506" cy="1714948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f04d15b1c9_3_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04d15b1c9_3_75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dk1"/>
                </a:solidFill>
              </a:rPr>
              <a:t>Função custo: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5" name="Google Shape;155;g3f04d15b1c9_3_75"/>
          <p:cNvSpPr txBox="1"/>
          <p:nvPr/>
        </p:nvSpPr>
        <p:spPr>
          <a:xfrm>
            <a:off x="867965" y="892975"/>
            <a:ext cx="7408069" cy="420211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descr="Function - Free education icons" id="156" name="Google Shape;156;g3f04d15b1c9_3_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7803" y="2191529"/>
            <a:ext cx="2058996" cy="205899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f04d15b1c9_3_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04d15b1c9_3_81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dk1"/>
                </a:solidFill>
              </a:rPr>
              <a:t>Grafico 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63" name="Google Shape;163;g3f04d15b1c9_3_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780" y="950125"/>
            <a:ext cx="8042440" cy="388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f04d15b1c9_3_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04d15b1c9_3_86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dk1"/>
                </a:solidFill>
              </a:rPr>
              <a:t>Resultados 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0" name="Google Shape;170;g3f04d15b1c9_3_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4407" y="1082877"/>
            <a:ext cx="5293518" cy="3649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ubt - Free user icons" id="171" name="Google Shape;171;g3f04d15b1c9_3_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1344" y="1538287"/>
            <a:ext cx="2066925" cy="20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3f04d15b1c9_3_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04d15b1c9_3_92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dk1"/>
                </a:solidFill>
              </a:rPr>
              <a:t>Resultados 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8" name="Google Shape;178;g3f04d15b1c9_3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4444" y="892975"/>
            <a:ext cx="5955111" cy="410522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f04d15b1c9_3_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04d15b1c9_3_97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dk1"/>
                </a:solidFill>
              </a:rPr>
              <a:t>Resultados (extra) 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85" name="Google Shape;185;g3f04d15b1c9_3_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2308" y="1222063"/>
            <a:ext cx="7259384" cy="350996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3f04d15b1c9_3_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04d15b1c9_3_102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dk1"/>
                </a:solidFill>
              </a:rPr>
              <a:t>Resultados 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92" name="Google Shape;192;g3f04d15b1c9_3_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513" y="791804"/>
            <a:ext cx="8015287" cy="387544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f04d15b1c9_3_10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04d15b1c9_3_107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dk1"/>
                </a:solidFill>
              </a:rPr>
              <a:t>Resultados 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99" name="Google Shape;199;g3f04d15b1c9_3_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2064" y="892963"/>
            <a:ext cx="6985836" cy="425053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f04d15b1c9_3_10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04d15b1c9_3_112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dk1"/>
                </a:solidFill>
              </a:rPr>
              <a:t>Conclusão :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6" name="Google Shape;206;g3f04d15b1c9_3_112"/>
          <p:cNvSpPr txBox="1"/>
          <p:nvPr/>
        </p:nvSpPr>
        <p:spPr>
          <a:xfrm>
            <a:off x="457200" y="981195"/>
            <a:ext cx="82938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Conseguimos transformar um problema financeiro de alocação cambial em uma formulação QUBO. Para isso,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discretizados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 carteira em blocos e usamos variáveis binárias para representar a escolha de cada moeda. A função objetivo combinou </a:t>
            </a:r>
            <a:r>
              <a:rPr b="1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retorno esperado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risco, custo de câmbio e </a:t>
            </a:r>
            <a:r>
              <a:rPr b="1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penalidade de concentração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 Os resultados mostram que o modelo consegue gerar carteiras diferentes conforme o perfil de risco e a moeda base considerada. Ao mesmo tempo, o modelo possui limitações, como depender de dados históricos, custos aproximados e uma discretização simples da carteira. Mesmo assim, ele mostra bem como problemas de decisão financeira podem ser formulados para otimização binária e computação quântica.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g3f04d15b1c9_3_1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"/>
          <p:cNvSpPr/>
          <p:nvPr/>
        </p:nvSpPr>
        <p:spPr>
          <a:xfrm>
            <a:off x="0" y="2222700"/>
            <a:ext cx="9144000" cy="6981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 txBox="1"/>
          <p:nvPr>
            <p:ph type="title"/>
          </p:nvPr>
        </p:nvSpPr>
        <p:spPr>
          <a:xfrm>
            <a:off x="-1342050" y="377850"/>
            <a:ext cx="11828100" cy="6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1400" lIns="131400" spcFirstLastPara="1" rIns="131400" wrap="square" tIns="1314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12"/>
              <a:buNone/>
            </a:pPr>
            <a:r>
              <a:rPr lang="en" sz="4312">
                <a:solidFill>
                  <a:schemeClr val="dk1"/>
                </a:solidFill>
              </a:rPr>
              <a:t>Física de Sensores Cuánticos</a:t>
            </a:r>
            <a:endParaRPr sz="4312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12"/>
              <a:buNone/>
            </a:pPr>
            <a:r>
              <a:t/>
            </a:r>
            <a:endParaRPr sz="4312">
              <a:solidFill>
                <a:schemeClr val="dk1"/>
              </a:solidFill>
            </a:endParaRPr>
          </a:p>
        </p:txBody>
      </p:sp>
      <p:sp>
        <p:nvSpPr>
          <p:cNvPr id="214" name="Google Shape;214;p8"/>
          <p:cNvSpPr txBox="1"/>
          <p:nvPr/>
        </p:nvSpPr>
        <p:spPr>
          <a:xfrm>
            <a:off x="1716375" y="660275"/>
            <a:ext cx="57375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31400" lIns="131400" spcFirstLastPara="1" rIns="131400" wrap="square" tIns="1314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18"/>
              <a:t>Centros NV en Diamante vía VQE</a:t>
            </a:r>
            <a:endParaRPr sz="2418"/>
          </a:p>
        </p:txBody>
      </p:sp>
      <p:sp>
        <p:nvSpPr>
          <p:cNvPr id="215" name="Google Shape;215;p8"/>
          <p:cNvSpPr txBox="1"/>
          <p:nvPr/>
        </p:nvSpPr>
        <p:spPr>
          <a:xfrm>
            <a:off x="-135175" y="2263950"/>
            <a:ext cx="9279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Aplicación de Algoritmos Variacionales en Metrología</a:t>
            </a:r>
            <a:endParaRPr sz="2400"/>
          </a:p>
        </p:txBody>
      </p:sp>
      <p:sp>
        <p:nvSpPr>
          <p:cNvPr id="216" name="Google Shape;21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0676c21e0_2_0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dk1"/>
                </a:solidFill>
              </a:rPr>
              <a:t>VQE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Computer desktop PC PNG transparent image download, size: 1280x878px" id="222" name="Google Shape;222;g3f0676c21e0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0687" y="1353586"/>
            <a:ext cx="3551473" cy="2436327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3f0676c21e0_2_0"/>
          <p:cNvSpPr txBox="1"/>
          <p:nvPr/>
        </p:nvSpPr>
        <p:spPr>
          <a:xfrm>
            <a:off x="657225" y="871550"/>
            <a:ext cx="4572000" cy="429701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400" r="-40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24" name="Google Shape;224;g3f0676c21e0_2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0676c21e0_2_7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dk1"/>
                </a:solidFill>
              </a:rPr>
              <a:t>Objetivo proposto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0" name="Google Shape;230;g3f0676c21e0_2_7"/>
          <p:cNvSpPr txBox="1"/>
          <p:nvPr/>
        </p:nvSpPr>
        <p:spPr>
          <a:xfrm>
            <a:off x="272845" y="929088"/>
            <a:ext cx="8480323" cy="32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objetivo deste projeto é estudar como um algoritmo quântico variacional, inspirado no VQE, pode ser usado para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prever campos magnéticos 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 sistemas com Centros NV.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 isso, o sistema físico dos Centros NV, que possui comportamento de spin-1, é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representado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usando qubits lógicos. Em seguida,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constrói-se um Hamiltoniano 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 descreve dois efeitos principais: o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desdobramento de campo zero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 a interação com um campo magnético externo, conhecida como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efeito Zeeman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ideia central é que, ao encontrar a </a:t>
            </a:r>
            <a:r>
              <a:rPr b="1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energia mínima </a:t>
            </a: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sistema, seja possível obter uma estimativa direta da perturbação magnética aplicada.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Assim, o projeto mostra que circuitos quânticos variacionais não servem apenas para simulações teóricas, mas também podem ser usados como ferramentas preditivas para aplicações reais em metrologia e sensoriamento quântico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g3f0676c21e0_2_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"/>
          <p:cNvSpPr txBox="1"/>
          <p:nvPr>
            <p:ph type="title"/>
          </p:nvPr>
        </p:nvSpPr>
        <p:spPr>
          <a:xfrm>
            <a:off x="408550" y="133750"/>
            <a:ext cx="822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Introducción a los Centros NV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 txBox="1"/>
          <p:nvPr/>
        </p:nvSpPr>
        <p:spPr>
          <a:xfrm>
            <a:off x="2093275" y="743500"/>
            <a:ext cx="29724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Attract new customers</a:t>
            </a:r>
            <a:endParaRPr b="1" i="0" sz="1600" u="none" cap="none" strike="noStrike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238" name="Google Shape;238;p9"/>
          <p:cNvGrpSpPr/>
          <p:nvPr/>
        </p:nvGrpSpPr>
        <p:grpSpPr>
          <a:xfrm>
            <a:off x="561797" y="1148604"/>
            <a:ext cx="368186" cy="366364"/>
            <a:chOff x="-63679950" y="3360375"/>
            <a:chExt cx="318225" cy="316650"/>
          </a:xfrm>
        </p:grpSpPr>
        <p:sp>
          <p:nvSpPr>
            <p:cNvPr id="239" name="Google Shape;239;p9"/>
            <p:cNvSpPr/>
            <p:nvPr/>
          </p:nvSpPr>
          <p:spPr>
            <a:xfrm>
              <a:off x="-63497200" y="34234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819" y="0"/>
                  </a:moveTo>
                  <a:cubicBezTo>
                    <a:pt x="378" y="0"/>
                    <a:pt x="0" y="378"/>
                    <a:pt x="0" y="819"/>
                  </a:cubicBezTo>
                  <a:cubicBezTo>
                    <a:pt x="0" y="1260"/>
                    <a:pt x="378" y="1638"/>
                    <a:pt x="819" y="1638"/>
                  </a:cubicBezTo>
                  <a:cubicBezTo>
                    <a:pt x="1260" y="1638"/>
                    <a:pt x="1638" y="1260"/>
                    <a:pt x="1638" y="819"/>
                  </a:cubicBezTo>
                  <a:cubicBezTo>
                    <a:pt x="1638" y="378"/>
                    <a:pt x="1260" y="0"/>
                    <a:pt x="8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9"/>
            <p:cNvSpPr/>
            <p:nvPr/>
          </p:nvSpPr>
          <p:spPr>
            <a:xfrm>
              <a:off x="-63516900" y="3485625"/>
              <a:ext cx="79575" cy="29950"/>
            </a:xfrm>
            <a:custGeom>
              <a:rect b="b" l="l" r="r" t="t"/>
              <a:pathLst>
                <a:path extrusionOk="0" h="1198" w="3183">
                  <a:moveTo>
                    <a:pt x="1607" y="0"/>
                  </a:moveTo>
                  <a:cubicBezTo>
                    <a:pt x="820" y="0"/>
                    <a:pt x="190" y="504"/>
                    <a:pt x="1" y="1197"/>
                  </a:cubicBezTo>
                  <a:lnTo>
                    <a:pt x="3183" y="1197"/>
                  </a:lnTo>
                  <a:cubicBezTo>
                    <a:pt x="3025" y="504"/>
                    <a:pt x="2395" y="0"/>
                    <a:pt x="16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9"/>
            <p:cNvSpPr/>
            <p:nvPr/>
          </p:nvSpPr>
          <p:spPr>
            <a:xfrm>
              <a:off x="-63618500" y="3360375"/>
              <a:ext cx="256775" cy="256600"/>
            </a:xfrm>
            <a:custGeom>
              <a:rect b="b" l="l" r="r" t="t"/>
              <a:pathLst>
                <a:path extrusionOk="0" h="10264" w="10271">
                  <a:moveTo>
                    <a:pt x="5703" y="1639"/>
                  </a:moveTo>
                  <a:cubicBezTo>
                    <a:pt x="6616" y="1639"/>
                    <a:pt x="7373" y="2395"/>
                    <a:pt x="7373" y="3309"/>
                  </a:cubicBezTo>
                  <a:cubicBezTo>
                    <a:pt x="7373" y="3750"/>
                    <a:pt x="7215" y="4128"/>
                    <a:pt x="6900" y="4443"/>
                  </a:cubicBezTo>
                  <a:cubicBezTo>
                    <a:pt x="7625" y="4884"/>
                    <a:pt x="8192" y="5672"/>
                    <a:pt x="8192" y="6617"/>
                  </a:cubicBezTo>
                  <a:cubicBezTo>
                    <a:pt x="8160" y="6900"/>
                    <a:pt x="8003" y="7058"/>
                    <a:pt x="7751" y="7058"/>
                  </a:cubicBezTo>
                  <a:lnTo>
                    <a:pt x="3623" y="7058"/>
                  </a:lnTo>
                  <a:cubicBezTo>
                    <a:pt x="3371" y="7058"/>
                    <a:pt x="3214" y="6837"/>
                    <a:pt x="3214" y="6617"/>
                  </a:cubicBezTo>
                  <a:cubicBezTo>
                    <a:pt x="3214" y="5672"/>
                    <a:pt x="3749" y="4884"/>
                    <a:pt x="4537" y="4443"/>
                  </a:cubicBezTo>
                  <a:cubicBezTo>
                    <a:pt x="4254" y="4128"/>
                    <a:pt x="4065" y="3718"/>
                    <a:pt x="4065" y="3309"/>
                  </a:cubicBezTo>
                  <a:cubicBezTo>
                    <a:pt x="4065" y="2395"/>
                    <a:pt x="4789" y="1639"/>
                    <a:pt x="5703" y="1639"/>
                  </a:cubicBezTo>
                  <a:close/>
                  <a:moveTo>
                    <a:pt x="5703" y="1"/>
                  </a:moveTo>
                  <a:cubicBezTo>
                    <a:pt x="3182" y="1"/>
                    <a:pt x="1135" y="2049"/>
                    <a:pt x="1135" y="4569"/>
                  </a:cubicBezTo>
                  <a:cubicBezTo>
                    <a:pt x="1135" y="5609"/>
                    <a:pt x="1481" y="6648"/>
                    <a:pt x="2206" y="7467"/>
                  </a:cubicBezTo>
                  <a:lnTo>
                    <a:pt x="1607" y="8066"/>
                  </a:lnTo>
                  <a:lnTo>
                    <a:pt x="756" y="7184"/>
                  </a:lnTo>
                  <a:cubicBezTo>
                    <a:pt x="678" y="7121"/>
                    <a:pt x="567" y="7089"/>
                    <a:pt x="457" y="7089"/>
                  </a:cubicBezTo>
                  <a:cubicBezTo>
                    <a:pt x="347" y="7089"/>
                    <a:pt x="237" y="7121"/>
                    <a:pt x="158" y="7184"/>
                  </a:cubicBezTo>
                  <a:cubicBezTo>
                    <a:pt x="0" y="7341"/>
                    <a:pt x="0" y="7625"/>
                    <a:pt x="158" y="7783"/>
                  </a:cubicBezTo>
                  <a:lnTo>
                    <a:pt x="1324" y="8980"/>
                  </a:lnTo>
                  <a:lnTo>
                    <a:pt x="2521" y="10145"/>
                  </a:lnTo>
                  <a:cubicBezTo>
                    <a:pt x="2600" y="10224"/>
                    <a:pt x="2710" y="10264"/>
                    <a:pt x="2820" y="10264"/>
                  </a:cubicBezTo>
                  <a:cubicBezTo>
                    <a:pt x="2930" y="10264"/>
                    <a:pt x="3041" y="10224"/>
                    <a:pt x="3119" y="10145"/>
                  </a:cubicBezTo>
                  <a:cubicBezTo>
                    <a:pt x="3277" y="9988"/>
                    <a:pt x="3277" y="9704"/>
                    <a:pt x="3119" y="9547"/>
                  </a:cubicBezTo>
                  <a:lnTo>
                    <a:pt x="2237" y="8696"/>
                  </a:lnTo>
                  <a:lnTo>
                    <a:pt x="2836" y="8098"/>
                  </a:lnTo>
                  <a:cubicBezTo>
                    <a:pt x="3655" y="8759"/>
                    <a:pt x="4695" y="9169"/>
                    <a:pt x="5734" y="9169"/>
                  </a:cubicBezTo>
                  <a:cubicBezTo>
                    <a:pt x="8255" y="9169"/>
                    <a:pt x="10271" y="7121"/>
                    <a:pt x="10271" y="4632"/>
                  </a:cubicBezTo>
                  <a:cubicBezTo>
                    <a:pt x="10239" y="2049"/>
                    <a:pt x="8223" y="1"/>
                    <a:pt x="57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9"/>
            <p:cNvSpPr/>
            <p:nvPr/>
          </p:nvSpPr>
          <p:spPr>
            <a:xfrm>
              <a:off x="-63679950" y="3576200"/>
              <a:ext cx="102425" cy="100825"/>
            </a:xfrm>
            <a:custGeom>
              <a:rect b="b" l="l" r="r" t="t"/>
              <a:pathLst>
                <a:path extrusionOk="0" h="4033" w="4097">
                  <a:moveTo>
                    <a:pt x="2332" y="0"/>
                  </a:moveTo>
                  <a:lnTo>
                    <a:pt x="159" y="2142"/>
                  </a:lnTo>
                  <a:cubicBezTo>
                    <a:pt x="1" y="2300"/>
                    <a:pt x="1" y="2584"/>
                    <a:pt x="159" y="2741"/>
                  </a:cubicBezTo>
                  <a:lnTo>
                    <a:pt x="1356" y="3938"/>
                  </a:lnTo>
                  <a:cubicBezTo>
                    <a:pt x="1434" y="4001"/>
                    <a:pt x="1545" y="4033"/>
                    <a:pt x="1655" y="4033"/>
                  </a:cubicBezTo>
                  <a:cubicBezTo>
                    <a:pt x="1765" y="4033"/>
                    <a:pt x="1876" y="4001"/>
                    <a:pt x="1954" y="3938"/>
                  </a:cubicBezTo>
                  <a:lnTo>
                    <a:pt x="4097" y="1764"/>
                  </a:lnTo>
                  <a:lnTo>
                    <a:pt x="233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3" name="Google Shape;243;p9"/>
          <p:cNvSpPr/>
          <p:nvPr/>
        </p:nvSpPr>
        <p:spPr>
          <a:xfrm>
            <a:off x="681125" y="709208"/>
            <a:ext cx="4613400" cy="754500"/>
          </a:xfrm>
          <a:prstGeom prst="rect">
            <a:avLst/>
          </a:prstGeom>
          <a:gradFill>
            <a:gsLst>
              <a:gs pos="0">
                <a:srgbClr val="EFEFEF"/>
              </a:gs>
              <a:gs pos="64000">
                <a:srgbClr val="F3F3F3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"/>
          <p:cNvSpPr txBox="1"/>
          <p:nvPr/>
        </p:nvSpPr>
        <p:spPr>
          <a:xfrm>
            <a:off x="2548075" y="992592"/>
            <a:ext cx="25176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100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Defectos Cristalinos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117899" y="479400"/>
            <a:ext cx="1272325" cy="1257328"/>
          </a:xfrm>
          <a:custGeom>
            <a:rect b="b" l="l" r="r" t="t"/>
            <a:pathLst>
              <a:path extrusionOk="0" h="25278" w="25486">
                <a:moveTo>
                  <a:pt x="12746" y="4905"/>
                </a:moveTo>
                <a:cubicBezTo>
                  <a:pt x="13701" y="4905"/>
                  <a:pt x="14672" y="5083"/>
                  <a:pt x="15613" y="5460"/>
                </a:cubicBezTo>
                <a:cubicBezTo>
                  <a:pt x="19580" y="7047"/>
                  <a:pt x="21508" y="11545"/>
                  <a:pt x="19923" y="15511"/>
                </a:cubicBezTo>
                <a:cubicBezTo>
                  <a:pt x="18714" y="18534"/>
                  <a:pt x="15811" y="20374"/>
                  <a:pt x="12742" y="20374"/>
                </a:cubicBezTo>
                <a:cubicBezTo>
                  <a:pt x="11786" y="20374"/>
                  <a:pt x="10814" y="20196"/>
                  <a:pt x="9873" y="19819"/>
                </a:cubicBezTo>
                <a:cubicBezTo>
                  <a:pt x="5908" y="18234"/>
                  <a:pt x="3978" y="13734"/>
                  <a:pt x="5563" y="9769"/>
                </a:cubicBezTo>
                <a:cubicBezTo>
                  <a:pt x="6772" y="6745"/>
                  <a:pt x="9676" y="4905"/>
                  <a:pt x="12746" y="4905"/>
                </a:cubicBezTo>
                <a:close/>
                <a:moveTo>
                  <a:pt x="15551" y="1"/>
                </a:moveTo>
                <a:cubicBezTo>
                  <a:pt x="15240" y="1"/>
                  <a:pt x="14946" y="187"/>
                  <a:pt x="14824" y="492"/>
                </a:cubicBezTo>
                <a:lnTo>
                  <a:pt x="14047" y="2435"/>
                </a:lnTo>
                <a:cubicBezTo>
                  <a:pt x="13612" y="2378"/>
                  <a:pt x="13174" y="2350"/>
                  <a:pt x="12736" y="2350"/>
                </a:cubicBezTo>
                <a:cubicBezTo>
                  <a:pt x="12218" y="2350"/>
                  <a:pt x="11700" y="2390"/>
                  <a:pt x="11187" y="2469"/>
                </a:cubicBezTo>
                <a:lnTo>
                  <a:pt x="10364" y="547"/>
                </a:lnTo>
                <a:cubicBezTo>
                  <a:pt x="10238" y="251"/>
                  <a:pt x="9949" y="73"/>
                  <a:pt x="9646" y="73"/>
                </a:cubicBezTo>
                <a:cubicBezTo>
                  <a:pt x="9543" y="73"/>
                  <a:pt x="9438" y="93"/>
                  <a:pt x="9338" y="137"/>
                </a:cubicBezTo>
                <a:lnTo>
                  <a:pt x="6036" y="1553"/>
                </a:lnTo>
                <a:cubicBezTo>
                  <a:pt x="5640" y="1722"/>
                  <a:pt x="5456" y="2182"/>
                  <a:pt x="5626" y="2579"/>
                </a:cubicBezTo>
                <a:lnTo>
                  <a:pt x="6449" y="4501"/>
                </a:lnTo>
                <a:cubicBezTo>
                  <a:pt x="5690" y="5085"/>
                  <a:pt x="5019" y="5775"/>
                  <a:pt x="4452" y="6549"/>
                </a:cubicBezTo>
                <a:lnTo>
                  <a:pt x="2510" y="5772"/>
                </a:lnTo>
                <a:cubicBezTo>
                  <a:pt x="2414" y="5734"/>
                  <a:pt x="2316" y="5716"/>
                  <a:pt x="2219" y="5716"/>
                </a:cubicBezTo>
                <a:cubicBezTo>
                  <a:pt x="1910" y="5716"/>
                  <a:pt x="1616" y="5901"/>
                  <a:pt x="1493" y="6208"/>
                </a:cubicBezTo>
                <a:lnTo>
                  <a:pt x="161" y="9542"/>
                </a:lnTo>
                <a:cubicBezTo>
                  <a:pt x="0" y="9944"/>
                  <a:pt x="194" y="10398"/>
                  <a:pt x="596" y="10558"/>
                </a:cubicBezTo>
                <a:lnTo>
                  <a:pt x="2537" y="11335"/>
                </a:lnTo>
                <a:cubicBezTo>
                  <a:pt x="2415" y="12285"/>
                  <a:pt x="2426" y="13249"/>
                  <a:pt x="2572" y="14195"/>
                </a:cubicBezTo>
                <a:lnTo>
                  <a:pt x="651" y="15018"/>
                </a:lnTo>
                <a:cubicBezTo>
                  <a:pt x="253" y="15189"/>
                  <a:pt x="71" y="15649"/>
                  <a:pt x="241" y="16046"/>
                </a:cubicBezTo>
                <a:lnTo>
                  <a:pt x="1655" y="19347"/>
                </a:lnTo>
                <a:cubicBezTo>
                  <a:pt x="1781" y="19643"/>
                  <a:pt x="2070" y="19821"/>
                  <a:pt x="2373" y="19821"/>
                </a:cubicBezTo>
                <a:cubicBezTo>
                  <a:pt x="2476" y="19821"/>
                  <a:pt x="2581" y="19800"/>
                  <a:pt x="2681" y="19756"/>
                </a:cubicBezTo>
                <a:lnTo>
                  <a:pt x="4603" y="18933"/>
                </a:lnTo>
                <a:cubicBezTo>
                  <a:pt x="5189" y="19692"/>
                  <a:pt x="5879" y="20365"/>
                  <a:pt x="6651" y="20930"/>
                </a:cubicBezTo>
                <a:lnTo>
                  <a:pt x="5874" y="22873"/>
                </a:lnTo>
                <a:cubicBezTo>
                  <a:pt x="5714" y="23273"/>
                  <a:pt x="5909" y="23728"/>
                  <a:pt x="6310" y="23888"/>
                </a:cubicBezTo>
                <a:lnTo>
                  <a:pt x="9645" y="25222"/>
                </a:lnTo>
                <a:cubicBezTo>
                  <a:pt x="9740" y="25260"/>
                  <a:pt x="9838" y="25278"/>
                  <a:pt x="9935" y="25278"/>
                </a:cubicBezTo>
                <a:cubicBezTo>
                  <a:pt x="10245" y="25278"/>
                  <a:pt x="10538" y="25092"/>
                  <a:pt x="10660" y="24786"/>
                </a:cubicBezTo>
                <a:lnTo>
                  <a:pt x="11437" y="22845"/>
                </a:lnTo>
                <a:cubicBezTo>
                  <a:pt x="11871" y="22901"/>
                  <a:pt x="12308" y="22929"/>
                  <a:pt x="12745" y="22929"/>
                </a:cubicBezTo>
                <a:cubicBezTo>
                  <a:pt x="13264" y="22929"/>
                  <a:pt x="13784" y="22889"/>
                  <a:pt x="14299" y="22810"/>
                </a:cubicBezTo>
                <a:lnTo>
                  <a:pt x="15122" y="24732"/>
                </a:lnTo>
                <a:cubicBezTo>
                  <a:pt x="15248" y="25028"/>
                  <a:pt x="15536" y="25206"/>
                  <a:pt x="15839" y="25206"/>
                </a:cubicBezTo>
                <a:cubicBezTo>
                  <a:pt x="15943" y="25206"/>
                  <a:pt x="16047" y="25185"/>
                  <a:pt x="16148" y="25142"/>
                </a:cubicBezTo>
                <a:lnTo>
                  <a:pt x="19449" y="23728"/>
                </a:lnTo>
                <a:cubicBezTo>
                  <a:pt x="19846" y="23558"/>
                  <a:pt x="20030" y="23098"/>
                  <a:pt x="19860" y="22701"/>
                </a:cubicBezTo>
                <a:lnTo>
                  <a:pt x="19037" y="20780"/>
                </a:lnTo>
                <a:cubicBezTo>
                  <a:pt x="19794" y="20194"/>
                  <a:pt x="20467" y="19503"/>
                  <a:pt x="21034" y="18732"/>
                </a:cubicBezTo>
                <a:lnTo>
                  <a:pt x="22975" y="19508"/>
                </a:lnTo>
                <a:cubicBezTo>
                  <a:pt x="23070" y="19546"/>
                  <a:pt x="23168" y="19564"/>
                  <a:pt x="23265" y="19564"/>
                </a:cubicBezTo>
                <a:cubicBezTo>
                  <a:pt x="23576" y="19564"/>
                  <a:pt x="23869" y="19378"/>
                  <a:pt x="23992" y="19073"/>
                </a:cubicBezTo>
                <a:lnTo>
                  <a:pt x="25326" y="15737"/>
                </a:lnTo>
                <a:cubicBezTo>
                  <a:pt x="25486" y="15337"/>
                  <a:pt x="25290" y="14882"/>
                  <a:pt x="24890" y="14722"/>
                </a:cubicBezTo>
                <a:lnTo>
                  <a:pt x="22948" y="13945"/>
                </a:lnTo>
                <a:cubicBezTo>
                  <a:pt x="23071" y="12994"/>
                  <a:pt x="23060" y="12032"/>
                  <a:pt x="22914" y="11084"/>
                </a:cubicBezTo>
                <a:lnTo>
                  <a:pt x="24835" y="10261"/>
                </a:lnTo>
                <a:cubicBezTo>
                  <a:pt x="25231" y="10091"/>
                  <a:pt x="25415" y="9631"/>
                  <a:pt x="25245" y="9234"/>
                </a:cubicBezTo>
                <a:lnTo>
                  <a:pt x="23830" y="5934"/>
                </a:lnTo>
                <a:cubicBezTo>
                  <a:pt x="23703" y="5637"/>
                  <a:pt x="23414" y="5459"/>
                  <a:pt x="23111" y="5459"/>
                </a:cubicBezTo>
                <a:cubicBezTo>
                  <a:pt x="23008" y="5459"/>
                  <a:pt x="22904" y="5479"/>
                  <a:pt x="22803" y="5522"/>
                </a:cubicBezTo>
                <a:lnTo>
                  <a:pt x="20882" y="6347"/>
                </a:lnTo>
                <a:cubicBezTo>
                  <a:pt x="20297" y="5588"/>
                  <a:pt x="19607" y="4915"/>
                  <a:pt x="18835" y="4348"/>
                </a:cubicBezTo>
                <a:lnTo>
                  <a:pt x="19610" y="2408"/>
                </a:lnTo>
                <a:cubicBezTo>
                  <a:pt x="19770" y="2006"/>
                  <a:pt x="19577" y="1551"/>
                  <a:pt x="19175" y="1391"/>
                </a:cubicBezTo>
                <a:lnTo>
                  <a:pt x="15841" y="57"/>
                </a:lnTo>
                <a:cubicBezTo>
                  <a:pt x="15745" y="19"/>
                  <a:pt x="15647" y="1"/>
                  <a:pt x="155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9"/>
          <p:cNvSpPr txBox="1"/>
          <p:nvPr/>
        </p:nvSpPr>
        <p:spPr>
          <a:xfrm>
            <a:off x="117900" y="1862325"/>
            <a:ext cx="5176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Sustitución de un átomo de carbono por nitrógeno junto a una vacante en la red del diamante.</a:t>
            </a:r>
            <a:endParaRPr/>
          </a:p>
        </p:txBody>
      </p:sp>
      <p:sp>
        <p:nvSpPr>
          <p:cNvPr id="247" name="Google Shape;247;p9"/>
          <p:cNvSpPr txBox="1"/>
          <p:nvPr/>
        </p:nvSpPr>
        <p:spPr>
          <a:xfrm>
            <a:off x="575550" y="2825287"/>
            <a:ext cx="4857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Actúan como "átomos artificiales" perfectamente aislados.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8" name="Google Shape;248;p9"/>
          <p:cNvSpPr txBox="1"/>
          <p:nvPr/>
        </p:nvSpPr>
        <p:spPr>
          <a:xfrm>
            <a:off x="575550" y="3634912"/>
            <a:ext cx="4857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Espines altamente sensibles a campos magnéticos y temperatura.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9" name="Google Shape;249;p9"/>
          <p:cNvSpPr txBox="1"/>
          <p:nvPr/>
        </p:nvSpPr>
        <p:spPr>
          <a:xfrm>
            <a:off x="575550" y="4444537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Uso del VQE como </a:t>
            </a:r>
            <a:r>
              <a:rPr b="1" i="0" lang="en" sz="1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sensor virtual</a:t>
            </a:r>
            <a:r>
              <a:rPr b="0" i="0" lang="en" sz="1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alta precisión.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191150" y="2850025"/>
            <a:ext cx="248297" cy="230978"/>
          </a:xfrm>
          <a:custGeom>
            <a:rect b="b" l="l" r="r" t="t"/>
            <a:pathLst>
              <a:path extrusionOk="0" h="25278" w="25486">
                <a:moveTo>
                  <a:pt x="12746" y="4905"/>
                </a:moveTo>
                <a:cubicBezTo>
                  <a:pt x="13701" y="4905"/>
                  <a:pt x="14672" y="5083"/>
                  <a:pt x="15613" y="5460"/>
                </a:cubicBezTo>
                <a:cubicBezTo>
                  <a:pt x="19580" y="7047"/>
                  <a:pt x="21508" y="11545"/>
                  <a:pt x="19923" y="15511"/>
                </a:cubicBezTo>
                <a:cubicBezTo>
                  <a:pt x="18714" y="18534"/>
                  <a:pt x="15811" y="20374"/>
                  <a:pt x="12742" y="20374"/>
                </a:cubicBezTo>
                <a:cubicBezTo>
                  <a:pt x="11786" y="20374"/>
                  <a:pt x="10814" y="20196"/>
                  <a:pt x="9873" y="19819"/>
                </a:cubicBezTo>
                <a:cubicBezTo>
                  <a:pt x="5908" y="18234"/>
                  <a:pt x="3978" y="13734"/>
                  <a:pt x="5563" y="9769"/>
                </a:cubicBezTo>
                <a:cubicBezTo>
                  <a:pt x="6772" y="6745"/>
                  <a:pt x="9676" y="4905"/>
                  <a:pt x="12746" y="4905"/>
                </a:cubicBezTo>
                <a:close/>
                <a:moveTo>
                  <a:pt x="15551" y="1"/>
                </a:moveTo>
                <a:cubicBezTo>
                  <a:pt x="15240" y="1"/>
                  <a:pt x="14946" y="187"/>
                  <a:pt x="14824" y="492"/>
                </a:cubicBezTo>
                <a:lnTo>
                  <a:pt x="14047" y="2435"/>
                </a:lnTo>
                <a:cubicBezTo>
                  <a:pt x="13612" y="2378"/>
                  <a:pt x="13174" y="2350"/>
                  <a:pt x="12736" y="2350"/>
                </a:cubicBezTo>
                <a:cubicBezTo>
                  <a:pt x="12218" y="2350"/>
                  <a:pt x="11700" y="2390"/>
                  <a:pt x="11187" y="2469"/>
                </a:cubicBezTo>
                <a:lnTo>
                  <a:pt x="10364" y="547"/>
                </a:lnTo>
                <a:cubicBezTo>
                  <a:pt x="10238" y="251"/>
                  <a:pt x="9949" y="73"/>
                  <a:pt x="9646" y="73"/>
                </a:cubicBezTo>
                <a:cubicBezTo>
                  <a:pt x="9543" y="73"/>
                  <a:pt x="9438" y="93"/>
                  <a:pt x="9338" y="137"/>
                </a:cubicBezTo>
                <a:lnTo>
                  <a:pt x="6036" y="1553"/>
                </a:lnTo>
                <a:cubicBezTo>
                  <a:pt x="5640" y="1722"/>
                  <a:pt x="5456" y="2182"/>
                  <a:pt x="5626" y="2579"/>
                </a:cubicBezTo>
                <a:lnTo>
                  <a:pt x="6449" y="4501"/>
                </a:lnTo>
                <a:cubicBezTo>
                  <a:pt x="5690" y="5085"/>
                  <a:pt x="5019" y="5775"/>
                  <a:pt x="4452" y="6549"/>
                </a:cubicBezTo>
                <a:lnTo>
                  <a:pt x="2510" y="5772"/>
                </a:lnTo>
                <a:cubicBezTo>
                  <a:pt x="2414" y="5734"/>
                  <a:pt x="2316" y="5716"/>
                  <a:pt x="2219" y="5716"/>
                </a:cubicBezTo>
                <a:cubicBezTo>
                  <a:pt x="1910" y="5716"/>
                  <a:pt x="1616" y="5901"/>
                  <a:pt x="1493" y="6208"/>
                </a:cubicBezTo>
                <a:lnTo>
                  <a:pt x="161" y="9542"/>
                </a:lnTo>
                <a:cubicBezTo>
                  <a:pt x="0" y="9944"/>
                  <a:pt x="194" y="10398"/>
                  <a:pt x="596" y="10558"/>
                </a:cubicBezTo>
                <a:lnTo>
                  <a:pt x="2537" y="11335"/>
                </a:lnTo>
                <a:cubicBezTo>
                  <a:pt x="2415" y="12285"/>
                  <a:pt x="2426" y="13249"/>
                  <a:pt x="2572" y="14195"/>
                </a:cubicBezTo>
                <a:lnTo>
                  <a:pt x="651" y="15018"/>
                </a:lnTo>
                <a:cubicBezTo>
                  <a:pt x="253" y="15189"/>
                  <a:pt x="71" y="15649"/>
                  <a:pt x="241" y="16046"/>
                </a:cubicBezTo>
                <a:lnTo>
                  <a:pt x="1655" y="19347"/>
                </a:lnTo>
                <a:cubicBezTo>
                  <a:pt x="1781" y="19643"/>
                  <a:pt x="2070" y="19821"/>
                  <a:pt x="2373" y="19821"/>
                </a:cubicBezTo>
                <a:cubicBezTo>
                  <a:pt x="2476" y="19821"/>
                  <a:pt x="2581" y="19800"/>
                  <a:pt x="2681" y="19756"/>
                </a:cubicBezTo>
                <a:lnTo>
                  <a:pt x="4603" y="18933"/>
                </a:lnTo>
                <a:cubicBezTo>
                  <a:pt x="5189" y="19692"/>
                  <a:pt x="5879" y="20365"/>
                  <a:pt x="6651" y="20930"/>
                </a:cubicBezTo>
                <a:lnTo>
                  <a:pt x="5874" y="22873"/>
                </a:lnTo>
                <a:cubicBezTo>
                  <a:pt x="5714" y="23273"/>
                  <a:pt x="5909" y="23728"/>
                  <a:pt x="6310" y="23888"/>
                </a:cubicBezTo>
                <a:lnTo>
                  <a:pt x="9645" y="25222"/>
                </a:lnTo>
                <a:cubicBezTo>
                  <a:pt x="9740" y="25260"/>
                  <a:pt x="9838" y="25278"/>
                  <a:pt x="9935" y="25278"/>
                </a:cubicBezTo>
                <a:cubicBezTo>
                  <a:pt x="10245" y="25278"/>
                  <a:pt x="10538" y="25092"/>
                  <a:pt x="10660" y="24786"/>
                </a:cubicBezTo>
                <a:lnTo>
                  <a:pt x="11437" y="22845"/>
                </a:lnTo>
                <a:cubicBezTo>
                  <a:pt x="11871" y="22901"/>
                  <a:pt x="12308" y="22929"/>
                  <a:pt x="12745" y="22929"/>
                </a:cubicBezTo>
                <a:cubicBezTo>
                  <a:pt x="13264" y="22929"/>
                  <a:pt x="13784" y="22889"/>
                  <a:pt x="14299" y="22810"/>
                </a:cubicBezTo>
                <a:lnTo>
                  <a:pt x="15122" y="24732"/>
                </a:lnTo>
                <a:cubicBezTo>
                  <a:pt x="15248" y="25028"/>
                  <a:pt x="15536" y="25206"/>
                  <a:pt x="15839" y="25206"/>
                </a:cubicBezTo>
                <a:cubicBezTo>
                  <a:pt x="15943" y="25206"/>
                  <a:pt x="16047" y="25185"/>
                  <a:pt x="16148" y="25142"/>
                </a:cubicBezTo>
                <a:lnTo>
                  <a:pt x="19449" y="23728"/>
                </a:lnTo>
                <a:cubicBezTo>
                  <a:pt x="19846" y="23558"/>
                  <a:pt x="20030" y="23098"/>
                  <a:pt x="19860" y="22701"/>
                </a:cubicBezTo>
                <a:lnTo>
                  <a:pt x="19037" y="20780"/>
                </a:lnTo>
                <a:cubicBezTo>
                  <a:pt x="19794" y="20194"/>
                  <a:pt x="20467" y="19503"/>
                  <a:pt x="21034" y="18732"/>
                </a:cubicBezTo>
                <a:lnTo>
                  <a:pt x="22975" y="19508"/>
                </a:lnTo>
                <a:cubicBezTo>
                  <a:pt x="23070" y="19546"/>
                  <a:pt x="23168" y="19564"/>
                  <a:pt x="23265" y="19564"/>
                </a:cubicBezTo>
                <a:cubicBezTo>
                  <a:pt x="23576" y="19564"/>
                  <a:pt x="23869" y="19378"/>
                  <a:pt x="23992" y="19073"/>
                </a:cubicBezTo>
                <a:lnTo>
                  <a:pt x="25326" y="15737"/>
                </a:lnTo>
                <a:cubicBezTo>
                  <a:pt x="25486" y="15337"/>
                  <a:pt x="25290" y="14882"/>
                  <a:pt x="24890" y="14722"/>
                </a:cubicBezTo>
                <a:lnTo>
                  <a:pt x="22948" y="13945"/>
                </a:lnTo>
                <a:cubicBezTo>
                  <a:pt x="23071" y="12994"/>
                  <a:pt x="23060" y="12032"/>
                  <a:pt x="22914" y="11084"/>
                </a:cubicBezTo>
                <a:lnTo>
                  <a:pt x="24835" y="10261"/>
                </a:lnTo>
                <a:cubicBezTo>
                  <a:pt x="25231" y="10091"/>
                  <a:pt x="25415" y="9631"/>
                  <a:pt x="25245" y="9234"/>
                </a:cubicBezTo>
                <a:lnTo>
                  <a:pt x="23830" y="5934"/>
                </a:lnTo>
                <a:cubicBezTo>
                  <a:pt x="23703" y="5637"/>
                  <a:pt x="23414" y="5459"/>
                  <a:pt x="23111" y="5459"/>
                </a:cubicBezTo>
                <a:cubicBezTo>
                  <a:pt x="23008" y="5459"/>
                  <a:pt x="22904" y="5479"/>
                  <a:pt x="22803" y="5522"/>
                </a:cubicBezTo>
                <a:lnTo>
                  <a:pt x="20882" y="6347"/>
                </a:lnTo>
                <a:cubicBezTo>
                  <a:pt x="20297" y="5588"/>
                  <a:pt x="19607" y="4915"/>
                  <a:pt x="18835" y="4348"/>
                </a:cubicBezTo>
                <a:lnTo>
                  <a:pt x="19610" y="2408"/>
                </a:lnTo>
                <a:cubicBezTo>
                  <a:pt x="19770" y="2006"/>
                  <a:pt x="19577" y="1551"/>
                  <a:pt x="19175" y="1391"/>
                </a:cubicBezTo>
                <a:lnTo>
                  <a:pt x="15841" y="57"/>
                </a:lnTo>
                <a:cubicBezTo>
                  <a:pt x="15745" y="19"/>
                  <a:pt x="15647" y="1"/>
                  <a:pt x="155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191150" y="3634900"/>
            <a:ext cx="248297" cy="230978"/>
          </a:xfrm>
          <a:custGeom>
            <a:rect b="b" l="l" r="r" t="t"/>
            <a:pathLst>
              <a:path extrusionOk="0" h="25278" w="25486">
                <a:moveTo>
                  <a:pt x="12746" y="4905"/>
                </a:moveTo>
                <a:cubicBezTo>
                  <a:pt x="13701" y="4905"/>
                  <a:pt x="14672" y="5083"/>
                  <a:pt x="15613" y="5460"/>
                </a:cubicBezTo>
                <a:cubicBezTo>
                  <a:pt x="19580" y="7047"/>
                  <a:pt x="21508" y="11545"/>
                  <a:pt x="19923" y="15511"/>
                </a:cubicBezTo>
                <a:cubicBezTo>
                  <a:pt x="18714" y="18534"/>
                  <a:pt x="15811" y="20374"/>
                  <a:pt x="12742" y="20374"/>
                </a:cubicBezTo>
                <a:cubicBezTo>
                  <a:pt x="11786" y="20374"/>
                  <a:pt x="10814" y="20196"/>
                  <a:pt x="9873" y="19819"/>
                </a:cubicBezTo>
                <a:cubicBezTo>
                  <a:pt x="5908" y="18234"/>
                  <a:pt x="3978" y="13734"/>
                  <a:pt x="5563" y="9769"/>
                </a:cubicBezTo>
                <a:cubicBezTo>
                  <a:pt x="6772" y="6745"/>
                  <a:pt x="9676" y="4905"/>
                  <a:pt x="12746" y="4905"/>
                </a:cubicBezTo>
                <a:close/>
                <a:moveTo>
                  <a:pt x="15551" y="1"/>
                </a:moveTo>
                <a:cubicBezTo>
                  <a:pt x="15240" y="1"/>
                  <a:pt x="14946" y="187"/>
                  <a:pt x="14824" y="492"/>
                </a:cubicBezTo>
                <a:lnTo>
                  <a:pt x="14047" y="2435"/>
                </a:lnTo>
                <a:cubicBezTo>
                  <a:pt x="13612" y="2378"/>
                  <a:pt x="13174" y="2350"/>
                  <a:pt x="12736" y="2350"/>
                </a:cubicBezTo>
                <a:cubicBezTo>
                  <a:pt x="12218" y="2350"/>
                  <a:pt x="11700" y="2390"/>
                  <a:pt x="11187" y="2469"/>
                </a:cubicBezTo>
                <a:lnTo>
                  <a:pt x="10364" y="547"/>
                </a:lnTo>
                <a:cubicBezTo>
                  <a:pt x="10238" y="251"/>
                  <a:pt x="9949" y="73"/>
                  <a:pt x="9646" y="73"/>
                </a:cubicBezTo>
                <a:cubicBezTo>
                  <a:pt x="9543" y="73"/>
                  <a:pt x="9438" y="93"/>
                  <a:pt x="9338" y="137"/>
                </a:cubicBezTo>
                <a:lnTo>
                  <a:pt x="6036" y="1553"/>
                </a:lnTo>
                <a:cubicBezTo>
                  <a:pt x="5640" y="1722"/>
                  <a:pt x="5456" y="2182"/>
                  <a:pt x="5626" y="2579"/>
                </a:cubicBezTo>
                <a:lnTo>
                  <a:pt x="6449" y="4501"/>
                </a:lnTo>
                <a:cubicBezTo>
                  <a:pt x="5690" y="5085"/>
                  <a:pt x="5019" y="5775"/>
                  <a:pt x="4452" y="6549"/>
                </a:cubicBezTo>
                <a:lnTo>
                  <a:pt x="2510" y="5772"/>
                </a:lnTo>
                <a:cubicBezTo>
                  <a:pt x="2414" y="5734"/>
                  <a:pt x="2316" y="5716"/>
                  <a:pt x="2219" y="5716"/>
                </a:cubicBezTo>
                <a:cubicBezTo>
                  <a:pt x="1910" y="5716"/>
                  <a:pt x="1616" y="5901"/>
                  <a:pt x="1493" y="6208"/>
                </a:cubicBezTo>
                <a:lnTo>
                  <a:pt x="161" y="9542"/>
                </a:lnTo>
                <a:cubicBezTo>
                  <a:pt x="0" y="9944"/>
                  <a:pt x="194" y="10398"/>
                  <a:pt x="596" y="10558"/>
                </a:cubicBezTo>
                <a:lnTo>
                  <a:pt x="2537" y="11335"/>
                </a:lnTo>
                <a:cubicBezTo>
                  <a:pt x="2415" y="12285"/>
                  <a:pt x="2426" y="13249"/>
                  <a:pt x="2572" y="14195"/>
                </a:cubicBezTo>
                <a:lnTo>
                  <a:pt x="651" y="15018"/>
                </a:lnTo>
                <a:cubicBezTo>
                  <a:pt x="253" y="15189"/>
                  <a:pt x="71" y="15649"/>
                  <a:pt x="241" y="16046"/>
                </a:cubicBezTo>
                <a:lnTo>
                  <a:pt x="1655" y="19347"/>
                </a:lnTo>
                <a:cubicBezTo>
                  <a:pt x="1781" y="19643"/>
                  <a:pt x="2070" y="19821"/>
                  <a:pt x="2373" y="19821"/>
                </a:cubicBezTo>
                <a:cubicBezTo>
                  <a:pt x="2476" y="19821"/>
                  <a:pt x="2581" y="19800"/>
                  <a:pt x="2681" y="19756"/>
                </a:cubicBezTo>
                <a:lnTo>
                  <a:pt x="4603" y="18933"/>
                </a:lnTo>
                <a:cubicBezTo>
                  <a:pt x="5189" y="19692"/>
                  <a:pt x="5879" y="20365"/>
                  <a:pt x="6651" y="20930"/>
                </a:cubicBezTo>
                <a:lnTo>
                  <a:pt x="5874" y="22873"/>
                </a:lnTo>
                <a:cubicBezTo>
                  <a:pt x="5714" y="23273"/>
                  <a:pt x="5909" y="23728"/>
                  <a:pt x="6310" y="23888"/>
                </a:cubicBezTo>
                <a:lnTo>
                  <a:pt x="9645" y="25222"/>
                </a:lnTo>
                <a:cubicBezTo>
                  <a:pt x="9740" y="25260"/>
                  <a:pt x="9838" y="25278"/>
                  <a:pt x="9935" y="25278"/>
                </a:cubicBezTo>
                <a:cubicBezTo>
                  <a:pt x="10245" y="25278"/>
                  <a:pt x="10538" y="25092"/>
                  <a:pt x="10660" y="24786"/>
                </a:cubicBezTo>
                <a:lnTo>
                  <a:pt x="11437" y="22845"/>
                </a:lnTo>
                <a:cubicBezTo>
                  <a:pt x="11871" y="22901"/>
                  <a:pt x="12308" y="22929"/>
                  <a:pt x="12745" y="22929"/>
                </a:cubicBezTo>
                <a:cubicBezTo>
                  <a:pt x="13264" y="22929"/>
                  <a:pt x="13784" y="22889"/>
                  <a:pt x="14299" y="22810"/>
                </a:cubicBezTo>
                <a:lnTo>
                  <a:pt x="15122" y="24732"/>
                </a:lnTo>
                <a:cubicBezTo>
                  <a:pt x="15248" y="25028"/>
                  <a:pt x="15536" y="25206"/>
                  <a:pt x="15839" y="25206"/>
                </a:cubicBezTo>
                <a:cubicBezTo>
                  <a:pt x="15943" y="25206"/>
                  <a:pt x="16047" y="25185"/>
                  <a:pt x="16148" y="25142"/>
                </a:cubicBezTo>
                <a:lnTo>
                  <a:pt x="19449" y="23728"/>
                </a:lnTo>
                <a:cubicBezTo>
                  <a:pt x="19846" y="23558"/>
                  <a:pt x="20030" y="23098"/>
                  <a:pt x="19860" y="22701"/>
                </a:cubicBezTo>
                <a:lnTo>
                  <a:pt x="19037" y="20780"/>
                </a:lnTo>
                <a:cubicBezTo>
                  <a:pt x="19794" y="20194"/>
                  <a:pt x="20467" y="19503"/>
                  <a:pt x="21034" y="18732"/>
                </a:cubicBezTo>
                <a:lnTo>
                  <a:pt x="22975" y="19508"/>
                </a:lnTo>
                <a:cubicBezTo>
                  <a:pt x="23070" y="19546"/>
                  <a:pt x="23168" y="19564"/>
                  <a:pt x="23265" y="19564"/>
                </a:cubicBezTo>
                <a:cubicBezTo>
                  <a:pt x="23576" y="19564"/>
                  <a:pt x="23869" y="19378"/>
                  <a:pt x="23992" y="19073"/>
                </a:cubicBezTo>
                <a:lnTo>
                  <a:pt x="25326" y="15737"/>
                </a:lnTo>
                <a:cubicBezTo>
                  <a:pt x="25486" y="15337"/>
                  <a:pt x="25290" y="14882"/>
                  <a:pt x="24890" y="14722"/>
                </a:cubicBezTo>
                <a:lnTo>
                  <a:pt x="22948" y="13945"/>
                </a:lnTo>
                <a:cubicBezTo>
                  <a:pt x="23071" y="12994"/>
                  <a:pt x="23060" y="12032"/>
                  <a:pt x="22914" y="11084"/>
                </a:cubicBezTo>
                <a:lnTo>
                  <a:pt x="24835" y="10261"/>
                </a:lnTo>
                <a:cubicBezTo>
                  <a:pt x="25231" y="10091"/>
                  <a:pt x="25415" y="9631"/>
                  <a:pt x="25245" y="9234"/>
                </a:cubicBezTo>
                <a:lnTo>
                  <a:pt x="23830" y="5934"/>
                </a:lnTo>
                <a:cubicBezTo>
                  <a:pt x="23703" y="5637"/>
                  <a:pt x="23414" y="5459"/>
                  <a:pt x="23111" y="5459"/>
                </a:cubicBezTo>
                <a:cubicBezTo>
                  <a:pt x="23008" y="5459"/>
                  <a:pt x="22904" y="5479"/>
                  <a:pt x="22803" y="5522"/>
                </a:cubicBezTo>
                <a:lnTo>
                  <a:pt x="20882" y="6347"/>
                </a:lnTo>
                <a:cubicBezTo>
                  <a:pt x="20297" y="5588"/>
                  <a:pt x="19607" y="4915"/>
                  <a:pt x="18835" y="4348"/>
                </a:cubicBezTo>
                <a:lnTo>
                  <a:pt x="19610" y="2408"/>
                </a:lnTo>
                <a:cubicBezTo>
                  <a:pt x="19770" y="2006"/>
                  <a:pt x="19577" y="1551"/>
                  <a:pt x="19175" y="1391"/>
                </a:cubicBezTo>
                <a:lnTo>
                  <a:pt x="15841" y="57"/>
                </a:lnTo>
                <a:cubicBezTo>
                  <a:pt x="15745" y="19"/>
                  <a:pt x="15647" y="1"/>
                  <a:pt x="155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191150" y="4419775"/>
            <a:ext cx="248297" cy="230978"/>
          </a:xfrm>
          <a:custGeom>
            <a:rect b="b" l="l" r="r" t="t"/>
            <a:pathLst>
              <a:path extrusionOk="0" h="25278" w="25486">
                <a:moveTo>
                  <a:pt x="12746" y="4905"/>
                </a:moveTo>
                <a:cubicBezTo>
                  <a:pt x="13701" y="4905"/>
                  <a:pt x="14672" y="5083"/>
                  <a:pt x="15613" y="5460"/>
                </a:cubicBezTo>
                <a:cubicBezTo>
                  <a:pt x="19580" y="7047"/>
                  <a:pt x="21508" y="11545"/>
                  <a:pt x="19923" y="15511"/>
                </a:cubicBezTo>
                <a:cubicBezTo>
                  <a:pt x="18714" y="18534"/>
                  <a:pt x="15811" y="20374"/>
                  <a:pt x="12742" y="20374"/>
                </a:cubicBezTo>
                <a:cubicBezTo>
                  <a:pt x="11786" y="20374"/>
                  <a:pt x="10814" y="20196"/>
                  <a:pt x="9873" y="19819"/>
                </a:cubicBezTo>
                <a:cubicBezTo>
                  <a:pt x="5908" y="18234"/>
                  <a:pt x="3978" y="13734"/>
                  <a:pt x="5563" y="9769"/>
                </a:cubicBezTo>
                <a:cubicBezTo>
                  <a:pt x="6772" y="6745"/>
                  <a:pt x="9676" y="4905"/>
                  <a:pt x="12746" y="4905"/>
                </a:cubicBezTo>
                <a:close/>
                <a:moveTo>
                  <a:pt x="15551" y="1"/>
                </a:moveTo>
                <a:cubicBezTo>
                  <a:pt x="15240" y="1"/>
                  <a:pt x="14946" y="187"/>
                  <a:pt x="14824" y="492"/>
                </a:cubicBezTo>
                <a:lnTo>
                  <a:pt x="14047" y="2435"/>
                </a:lnTo>
                <a:cubicBezTo>
                  <a:pt x="13612" y="2378"/>
                  <a:pt x="13174" y="2350"/>
                  <a:pt x="12736" y="2350"/>
                </a:cubicBezTo>
                <a:cubicBezTo>
                  <a:pt x="12218" y="2350"/>
                  <a:pt x="11700" y="2390"/>
                  <a:pt x="11187" y="2469"/>
                </a:cubicBezTo>
                <a:lnTo>
                  <a:pt x="10364" y="547"/>
                </a:lnTo>
                <a:cubicBezTo>
                  <a:pt x="10238" y="251"/>
                  <a:pt x="9949" y="73"/>
                  <a:pt x="9646" y="73"/>
                </a:cubicBezTo>
                <a:cubicBezTo>
                  <a:pt x="9543" y="73"/>
                  <a:pt x="9438" y="93"/>
                  <a:pt x="9338" y="137"/>
                </a:cubicBezTo>
                <a:lnTo>
                  <a:pt x="6036" y="1553"/>
                </a:lnTo>
                <a:cubicBezTo>
                  <a:pt x="5640" y="1722"/>
                  <a:pt x="5456" y="2182"/>
                  <a:pt x="5626" y="2579"/>
                </a:cubicBezTo>
                <a:lnTo>
                  <a:pt x="6449" y="4501"/>
                </a:lnTo>
                <a:cubicBezTo>
                  <a:pt x="5690" y="5085"/>
                  <a:pt x="5019" y="5775"/>
                  <a:pt x="4452" y="6549"/>
                </a:cubicBezTo>
                <a:lnTo>
                  <a:pt x="2510" y="5772"/>
                </a:lnTo>
                <a:cubicBezTo>
                  <a:pt x="2414" y="5734"/>
                  <a:pt x="2316" y="5716"/>
                  <a:pt x="2219" y="5716"/>
                </a:cubicBezTo>
                <a:cubicBezTo>
                  <a:pt x="1910" y="5716"/>
                  <a:pt x="1616" y="5901"/>
                  <a:pt x="1493" y="6208"/>
                </a:cubicBezTo>
                <a:lnTo>
                  <a:pt x="161" y="9542"/>
                </a:lnTo>
                <a:cubicBezTo>
                  <a:pt x="0" y="9944"/>
                  <a:pt x="194" y="10398"/>
                  <a:pt x="596" y="10558"/>
                </a:cubicBezTo>
                <a:lnTo>
                  <a:pt x="2537" y="11335"/>
                </a:lnTo>
                <a:cubicBezTo>
                  <a:pt x="2415" y="12285"/>
                  <a:pt x="2426" y="13249"/>
                  <a:pt x="2572" y="14195"/>
                </a:cubicBezTo>
                <a:lnTo>
                  <a:pt x="651" y="15018"/>
                </a:lnTo>
                <a:cubicBezTo>
                  <a:pt x="253" y="15189"/>
                  <a:pt x="71" y="15649"/>
                  <a:pt x="241" y="16046"/>
                </a:cubicBezTo>
                <a:lnTo>
                  <a:pt x="1655" y="19347"/>
                </a:lnTo>
                <a:cubicBezTo>
                  <a:pt x="1781" y="19643"/>
                  <a:pt x="2070" y="19821"/>
                  <a:pt x="2373" y="19821"/>
                </a:cubicBezTo>
                <a:cubicBezTo>
                  <a:pt x="2476" y="19821"/>
                  <a:pt x="2581" y="19800"/>
                  <a:pt x="2681" y="19756"/>
                </a:cubicBezTo>
                <a:lnTo>
                  <a:pt x="4603" y="18933"/>
                </a:lnTo>
                <a:cubicBezTo>
                  <a:pt x="5189" y="19692"/>
                  <a:pt x="5879" y="20365"/>
                  <a:pt x="6651" y="20930"/>
                </a:cubicBezTo>
                <a:lnTo>
                  <a:pt x="5874" y="22873"/>
                </a:lnTo>
                <a:cubicBezTo>
                  <a:pt x="5714" y="23273"/>
                  <a:pt x="5909" y="23728"/>
                  <a:pt x="6310" y="23888"/>
                </a:cubicBezTo>
                <a:lnTo>
                  <a:pt x="9645" y="25222"/>
                </a:lnTo>
                <a:cubicBezTo>
                  <a:pt x="9740" y="25260"/>
                  <a:pt x="9838" y="25278"/>
                  <a:pt x="9935" y="25278"/>
                </a:cubicBezTo>
                <a:cubicBezTo>
                  <a:pt x="10245" y="25278"/>
                  <a:pt x="10538" y="25092"/>
                  <a:pt x="10660" y="24786"/>
                </a:cubicBezTo>
                <a:lnTo>
                  <a:pt x="11437" y="22845"/>
                </a:lnTo>
                <a:cubicBezTo>
                  <a:pt x="11871" y="22901"/>
                  <a:pt x="12308" y="22929"/>
                  <a:pt x="12745" y="22929"/>
                </a:cubicBezTo>
                <a:cubicBezTo>
                  <a:pt x="13264" y="22929"/>
                  <a:pt x="13784" y="22889"/>
                  <a:pt x="14299" y="22810"/>
                </a:cubicBezTo>
                <a:lnTo>
                  <a:pt x="15122" y="24732"/>
                </a:lnTo>
                <a:cubicBezTo>
                  <a:pt x="15248" y="25028"/>
                  <a:pt x="15536" y="25206"/>
                  <a:pt x="15839" y="25206"/>
                </a:cubicBezTo>
                <a:cubicBezTo>
                  <a:pt x="15943" y="25206"/>
                  <a:pt x="16047" y="25185"/>
                  <a:pt x="16148" y="25142"/>
                </a:cubicBezTo>
                <a:lnTo>
                  <a:pt x="19449" y="23728"/>
                </a:lnTo>
                <a:cubicBezTo>
                  <a:pt x="19846" y="23558"/>
                  <a:pt x="20030" y="23098"/>
                  <a:pt x="19860" y="22701"/>
                </a:cubicBezTo>
                <a:lnTo>
                  <a:pt x="19037" y="20780"/>
                </a:lnTo>
                <a:cubicBezTo>
                  <a:pt x="19794" y="20194"/>
                  <a:pt x="20467" y="19503"/>
                  <a:pt x="21034" y="18732"/>
                </a:cubicBezTo>
                <a:lnTo>
                  <a:pt x="22975" y="19508"/>
                </a:lnTo>
                <a:cubicBezTo>
                  <a:pt x="23070" y="19546"/>
                  <a:pt x="23168" y="19564"/>
                  <a:pt x="23265" y="19564"/>
                </a:cubicBezTo>
                <a:cubicBezTo>
                  <a:pt x="23576" y="19564"/>
                  <a:pt x="23869" y="19378"/>
                  <a:pt x="23992" y="19073"/>
                </a:cubicBezTo>
                <a:lnTo>
                  <a:pt x="25326" y="15737"/>
                </a:lnTo>
                <a:cubicBezTo>
                  <a:pt x="25486" y="15337"/>
                  <a:pt x="25290" y="14882"/>
                  <a:pt x="24890" y="14722"/>
                </a:cubicBezTo>
                <a:lnTo>
                  <a:pt x="22948" y="13945"/>
                </a:lnTo>
                <a:cubicBezTo>
                  <a:pt x="23071" y="12994"/>
                  <a:pt x="23060" y="12032"/>
                  <a:pt x="22914" y="11084"/>
                </a:cubicBezTo>
                <a:lnTo>
                  <a:pt x="24835" y="10261"/>
                </a:lnTo>
                <a:cubicBezTo>
                  <a:pt x="25231" y="10091"/>
                  <a:pt x="25415" y="9631"/>
                  <a:pt x="25245" y="9234"/>
                </a:cubicBezTo>
                <a:lnTo>
                  <a:pt x="23830" y="5934"/>
                </a:lnTo>
                <a:cubicBezTo>
                  <a:pt x="23703" y="5637"/>
                  <a:pt x="23414" y="5459"/>
                  <a:pt x="23111" y="5459"/>
                </a:cubicBezTo>
                <a:cubicBezTo>
                  <a:pt x="23008" y="5459"/>
                  <a:pt x="22904" y="5479"/>
                  <a:pt x="22803" y="5522"/>
                </a:cubicBezTo>
                <a:lnTo>
                  <a:pt x="20882" y="6347"/>
                </a:lnTo>
                <a:cubicBezTo>
                  <a:pt x="20297" y="5588"/>
                  <a:pt x="19607" y="4915"/>
                  <a:pt x="18835" y="4348"/>
                </a:cubicBezTo>
                <a:lnTo>
                  <a:pt x="19610" y="2408"/>
                </a:lnTo>
                <a:cubicBezTo>
                  <a:pt x="19770" y="2006"/>
                  <a:pt x="19577" y="1551"/>
                  <a:pt x="19175" y="1391"/>
                </a:cubicBezTo>
                <a:lnTo>
                  <a:pt x="15841" y="57"/>
                </a:lnTo>
                <a:cubicBezTo>
                  <a:pt x="15745" y="19"/>
                  <a:pt x="15647" y="1"/>
                  <a:pt x="155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0750" y="1148600"/>
            <a:ext cx="31432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"/>
          <p:cNvSpPr/>
          <p:nvPr/>
        </p:nvSpPr>
        <p:spPr>
          <a:xfrm>
            <a:off x="-44525" y="105850"/>
            <a:ext cx="9144000" cy="6981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6539550" y="1857925"/>
            <a:ext cx="2476500" cy="532200"/>
          </a:xfrm>
          <a:prstGeom prst="horizontalScroll">
            <a:avLst>
              <a:gd fmla="val 125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3283688" y="1857925"/>
            <a:ext cx="2476500" cy="532200"/>
          </a:xfrm>
          <a:prstGeom prst="horizontalScroll">
            <a:avLst>
              <a:gd fmla="val 125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51800" y="1857925"/>
            <a:ext cx="2476500" cy="532200"/>
          </a:xfrm>
          <a:prstGeom prst="horizontalScroll">
            <a:avLst>
              <a:gd fmla="val 125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10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La Física del Sensor (Espín-1)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 txBox="1"/>
          <p:nvPr/>
        </p:nvSpPr>
        <p:spPr>
          <a:xfrm>
            <a:off x="-27850" y="2020725"/>
            <a:ext cx="2565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0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Estructura Triplete</a:t>
            </a:r>
            <a:endParaRPr sz="1200"/>
          </a:p>
        </p:txBody>
      </p:sp>
      <p:sp>
        <p:nvSpPr>
          <p:cNvPr id="265" name="Google Shape;265;p10"/>
          <p:cNvSpPr txBox="1"/>
          <p:nvPr/>
        </p:nvSpPr>
        <p:spPr>
          <a:xfrm>
            <a:off x="3255858" y="2020725"/>
            <a:ext cx="2565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0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Efecto Zeeman</a:t>
            </a:r>
            <a:endParaRPr sz="1200"/>
          </a:p>
        </p:txBody>
      </p:sp>
      <p:sp>
        <p:nvSpPr>
          <p:cNvPr id="266" name="Google Shape;266;p10"/>
          <p:cNvSpPr txBox="1"/>
          <p:nvPr/>
        </p:nvSpPr>
        <p:spPr>
          <a:xfrm>
            <a:off x="6539542" y="1977775"/>
            <a:ext cx="2565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0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Metrología</a:t>
            </a:r>
            <a:endParaRPr sz="1200"/>
          </a:p>
        </p:txBody>
      </p:sp>
      <p:sp>
        <p:nvSpPr>
          <p:cNvPr id="267" name="Google Shape;267;p10"/>
          <p:cNvSpPr txBox="1"/>
          <p:nvPr/>
        </p:nvSpPr>
        <p:spPr>
          <a:xfrm>
            <a:off x="27800" y="2390000"/>
            <a:ext cx="2476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estado fundamental posee espín , generando tres niveles magnéticos: 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8" name="Google Shape;268;p10"/>
          <p:cNvSpPr txBox="1"/>
          <p:nvPr/>
        </p:nvSpPr>
        <p:spPr>
          <a:xfrm>
            <a:off x="3356025" y="2390000"/>
            <a:ext cx="2476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 aplicación de un campo magnético rompe la degeneración de los estados 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9" name="Google Shape;269;p10"/>
          <p:cNvSpPr txBox="1"/>
          <p:nvPr/>
        </p:nvSpPr>
        <p:spPr>
          <a:xfrm>
            <a:off x="6684225" y="2347050"/>
            <a:ext cx="24042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 separación energética es proporcional a la intensidad del campo magnético externo 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0" name="Google Shape;27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"/>
          <p:cNvSpPr/>
          <p:nvPr/>
        </p:nvSpPr>
        <p:spPr>
          <a:xfrm>
            <a:off x="-75" y="1809150"/>
            <a:ext cx="9144000" cy="6981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1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dk1"/>
                </a:solidFill>
              </a:rPr>
              <a:t>El Hamiltoniano del Sistema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7" name="Google Shape;277;p11"/>
          <p:cNvSpPr txBox="1"/>
          <p:nvPr/>
        </p:nvSpPr>
        <p:spPr>
          <a:xfrm>
            <a:off x="0" y="1988850"/>
            <a:ext cx="914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H= D</a:t>
            </a:r>
            <a:r>
              <a:rPr lang="en" sz="2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S²z</a:t>
            </a:r>
            <a:r>
              <a:rPr lang="en" sz="2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+γBzSz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278" name="Google Shape;278;p11"/>
          <p:cNvSpPr txBox="1"/>
          <p:nvPr/>
        </p:nvSpPr>
        <p:spPr>
          <a:xfrm>
            <a:off x="0" y="3098575"/>
            <a:ext cx="4446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Interacción Dipolo-Dipolo</a:t>
            </a:r>
            <a:endParaRPr/>
          </a:p>
        </p:txBody>
      </p:sp>
      <p:sp>
        <p:nvSpPr>
          <p:cNvPr id="279" name="Google Shape;279;p11"/>
          <p:cNvSpPr txBox="1"/>
          <p:nvPr/>
        </p:nvSpPr>
        <p:spPr>
          <a:xfrm>
            <a:off x="0" y="3584350"/>
            <a:ext cx="4235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término representa el desdoblamiento de campo cero (GHz). D </a:t>
            </a:r>
            <a:r>
              <a:rPr lang="en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= 2.87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0" name="Google Shape;280;p11"/>
          <p:cNvSpPr txBox="1"/>
          <p:nvPr/>
        </p:nvSpPr>
        <p:spPr>
          <a:xfrm>
            <a:off x="4697082" y="3098575"/>
            <a:ext cx="4446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Interacción Zeeman</a:t>
            </a:r>
            <a:endParaRPr/>
          </a:p>
        </p:txBody>
      </p:sp>
      <p:sp>
        <p:nvSpPr>
          <p:cNvPr id="281" name="Google Shape;281;p11"/>
          <p:cNvSpPr txBox="1"/>
          <p:nvPr/>
        </p:nvSpPr>
        <p:spPr>
          <a:xfrm>
            <a:off x="4697082" y="3584350"/>
            <a:ext cx="4235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término cuantifica la respuesta del espín ante el campo externo 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2" name="Google Shape;28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"/>
          <p:cNvSpPr txBox="1"/>
          <p:nvPr>
            <p:ph type="title"/>
          </p:nvPr>
        </p:nvSpPr>
        <p:spPr>
          <a:xfrm>
            <a:off x="457200" y="176150"/>
            <a:ext cx="822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Mapeo Cuántico (Espín a Qubits)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3136825" y="3485438"/>
            <a:ext cx="936300" cy="9363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5362225" y="3485438"/>
            <a:ext cx="936300" cy="9363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4249525" y="2385438"/>
            <a:ext cx="936300" cy="9363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3"/>
          <p:cNvSpPr txBox="1"/>
          <p:nvPr/>
        </p:nvSpPr>
        <p:spPr>
          <a:xfrm>
            <a:off x="3730463" y="780900"/>
            <a:ext cx="1974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Estados Lógicos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92" name="Google Shape;292;p13"/>
          <p:cNvSpPr txBox="1"/>
          <p:nvPr/>
        </p:nvSpPr>
        <p:spPr>
          <a:xfrm>
            <a:off x="564663" y="3500775"/>
            <a:ext cx="1974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Operador Sz²</a:t>
            </a:r>
            <a:endParaRPr b="1" sz="16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93" name="Google Shape;293;p13"/>
          <p:cNvSpPr txBox="1"/>
          <p:nvPr/>
        </p:nvSpPr>
        <p:spPr>
          <a:xfrm>
            <a:off x="6900750" y="3501088"/>
            <a:ext cx="1974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Operador Sz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94" name="Google Shape;294;p13"/>
          <p:cNvSpPr txBox="1"/>
          <p:nvPr/>
        </p:nvSpPr>
        <p:spPr>
          <a:xfrm>
            <a:off x="3758063" y="1315500"/>
            <a:ext cx="19191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|00⟩ → ms = 0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|01⟩ → ms = +1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|10⟩ → ms = -1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13"/>
          <p:cNvSpPr/>
          <p:nvPr/>
        </p:nvSpPr>
        <p:spPr>
          <a:xfrm rot="5400000">
            <a:off x="5362225" y="2785975"/>
            <a:ext cx="535800" cy="5358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3"/>
          <p:cNvSpPr/>
          <p:nvPr/>
        </p:nvSpPr>
        <p:spPr>
          <a:xfrm rot="10800000">
            <a:off x="4809175" y="4545900"/>
            <a:ext cx="1020600" cy="597600"/>
          </a:xfrm>
          <a:prstGeom prst="bentArrow">
            <a:avLst>
              <a:gd fmla="val 25000" name="adj1"/>
              <a:gd fmla="val 23500" name="adj2"/>
              <a:gd fmla="val 25000" name="adj3"/>
              <a:gd fmla="val 43750" name="adj4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3594175" y="2785975"/>
            <a:ext cx="535800" cy="5358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8" name="Google Shape;298;p13"/>
          <p:cNvGrpSpPr/>
          <p:nvPr/>
        </p:nvGrpSpPr>
        <p:grpSpPr>
          <a:xfrm>
            <a:off x="4533519" y="2670413"/>
            <a:ext cx="368186" cy="366364"/>
            <a:chOff x="-62151950" y="4111775"/>
            <a:chExt cx="318225" cy="316650"/>
          </a:xfrm>
        </p:grpSpPr>
        <p:sp>
          <p:nvSpPr>
            <p:cNvPr id="299" name="Google Shape;299;p13"/>
            <p:cNvSpPr/>
            <p:nvPr/>
          </p:nvSpPr>
          <p:spPr>
            <a:xfrm>
              <a:off x="-62151950" y="4407925"/>
              <a:ext cx="318225" cy="20500"/>
            </a:xfrm>
            <a:custGeom>
              <a:rect b="b" l="l" r="r" t="t"/>
              <a:pathLst>
                <a:path extrusionOk="0" h="820" w="12729"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cubicBezTo>
                    <a:pt x="1" y="662"/>
                    <a:pt x="221" y="819"/>
                    <a:pt x="442" y="819"/>
                  </a:cubicBezTo>
                  <a:lnTo>
                    <a:pt x="12288" y="819"/>
                  </a:lnTo>
                  <a:cubicBezTo>
                    <a:pt x="12540" y="819"/>
                    <a:pt x="12697" y="630"/>
                    <a:pt x="12697" y="441"/>
                  </a:cubicBezTo>
                  <a:cubicBezTo>
                    <a:pt x="12729" y="158"/>
                    <a:pt x="12540" y="0"/>
                    <a:pt x="122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13"/>
            <p:cNvSpPr/>
            <p:nvPr/>
          </p:nvSpPr>
          <p:spPr>
            <a:xfrm>
              <a:off x="-62151950" y="4283475"/>
              <a:ext cx="84300" cy="104000"/>
            </a:xfrm>
            <a:custGeom>
              <a:rect b="b" l="l" r="r" t="t"/>
              <a:pathLst>
                <a:path extrusionOk="0" h="4160" w="3372">
                  <a:moveTo>
                    <a:pt x="1009" y="0"/>
                  </a:moveTo>
                  <a:cubicBezTo>
                    <a:pt x="442" y="0"/>
                    <a:pt x="1" y="442"/>
                    <a:pt x="1" y="1009"/>
                  </a:cubicBezTo>
                  <a:lnTo>
                    <a:pt x="1" y="3214"/>
                  </a:lnTo>
                  <a:cubicBezTo>
                    <a:pt x="64" y="3718"/>
                    <a:pt x="473" y="4159"/>
                    <a:pt x="1009" y="4159"/>
                  </a:cubicBezTo>
                  <a:lnTo>
                    <a:pt x="2363" y="4159"/>
                  </a:lnTo>
                  <a:cubicBezTo>
                    <a:pt x="2931" y="4159"/>
                    <a:pt x="3372" y="3718"/>
                    <a:pt x="3372" y="3214"/>
                  </a:cubicBezTo>
                  <a:lnTo>
                    <a:pt x="3372" y="1009"/>
                  </a:lnTo>
                  <a:cubicBezTo>
                    <a:pt x="3372" y="442"/>
                    <a:pt x="2931" y="0"/>
                    <a:pt x="23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3"/>
            <p:cNvSpPr/>
            <p:nvPr/>
          </p:nvSpPr>
          <p:spPr>
            <a:xfrm>
              <a:off x="-62033800" y="4111775"/>
              <a:ext cx="82725" cy="275700"/>
            </a:xfrm>
            <a:custGeom>
              <a:rect b="b" l="l" r="r" t="t"/>
              <a:pathLst>
                <a:path extrusionOk="0" h="11028" w="3309">
                  <a:moveTo>
                    <a:pt x="946" y="0"/>
                  </a:moveTo>
                  <a:cubicBezTo>
                    <a:pt x="410" y="0"/>
                    <a:pt x="0" y="410"/>
                    <a:pt x="0" y="977"/>
                  </a:cubicBezTo>
                  <a:lnTo>
                    <a:pt x="0" y="10082"/>
                  </a:lnTo>
                  <a:cubicBezTo>
                    <a:pt x="0" y="10618"/>
                    <a:pt x="441" y="11027"/>
                    <a:pt x="946" y="11027"/>
                  </a:cubicBezTo>
                  <a:lnTo>
                    <a:pt x="2332" y="11027"/>
                  </a:lnTo>
                  <a:cubicBezTo>
                    <a:pt x="2899" y="11027"/>
                    <a:pt x="3308" y="10586"/>
                    <a:pt x="3308" y="10082"/>
                  </a:cubicBezTo>
                  <a:lnTo>
                    <a:pt x="3308" y="977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3"/>
            <p:cNvSpPr/>
            <p:nvPr/>
          </p:nvSpPr>
          <p:spPr>
            <a:xfrm>
              <a:off x="-61916450" y="4200775"/>
              <a:ext cx="82725" cy="186700"/>
            </a:xfrm>
            <a:custGeom>
              <a:rect b="b" l="l" r="r" t="t"/>
              <a:pathLst>
                <a:path extrusionOk="0" h="7468" w="3309">
                  <a:moveTo>
                    <a:pt x="946" y="0"/>
                  </a:moveTo>
                  <a:cubicBezTo>
                    <a:pt x="410" y="0"/>
                    <a:pt x="1" y="442"/>
                    <a:pt x="1" y="1009"/>
                  </a:cubicBezTo>
                  <a:lnTo>
                    <a:pt x="1" y="6522"/>
                  </a:lnTo>
                  <a:cubicBezTo>
                    <a:pt x="1" y="7058"/>
                    <a:pt x="442" y="7467"/>
                    <a:pt x="946" y="7467"/>
                  </a:cubicBezTo>
                  <a:lnTo>
                    <a:pt x="2332" y="7467"/>
                  </a:lnTo>
                  <a:cubicBezTo>
                    <a:pt x="2868" y="7467"/>
                    <a:pt x="3309" y="7026"/>
                    <a:pt x="3309" y="6522"/>
                  </a:cubicBezTo>
                  <a:lnTo>
                    <a:pt x="3309" y="1009"/>
                  </a:lnTo>
                  <a:cubicBezTo>
                    <a:pt x="3309" y="442"/>
                    <a:pt x="2868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" name="Google Shape;303;p13"/>
          <p:cNvSpPr/>
          <p:nvPr/>
        </p:nvSpPr>
        <p:spPr>
          <a:xfrm rot="-5400000">
            <a:off x="3877375" y="4205725"/>
            <a:ext cx="535800" cy="12159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3"/>
          <p:cNvSpPr txBox="1"/>
          <p:nvPr/>
        </p:nvSpPr>
        <p:spPr>
          <a:xfrm>
            <a:off x="6400975" y="3770000"/>
            <a:ext cx="571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b="1" i="0" sz="2400" u="none" cap="none" strike="noStrik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5" name="Google Shape;305;p13"/>
          <p:cNvSpPr txBox="1"/>
          <p:nvPr/>
        </p:nvSpPr>
        <p:spPr>
          <a:xfrm>
            <a:off x="2463175" y="3750150"/>
            <a:ext cx="571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 b="1" i="0" sz="2400" u="none" cap="none" strike="noStrik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6" name="Google Shape;306;p13"/>
          <p:cNvSpPr txBox="1"/>
          <p:nvPr/>
        </p:nvSpPr>
        <p:spPr>
          <a:xfrm>
            <a:off x="4432075" y="1952775"/>
            <a:ext cx="571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b="1" i="0" sz="2400" u="none" cap="none" strike="noStrik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307" name="Google Shape;307;p13"/>
          <p:cNvGrpSpPr/>
          <p:nvPr/>
        </p:nvGrpSpPr>
        <p:grpSpPr>
          <a:xfrm>
            <a:off x="5647502" y="3726501"/>
            <a:ext cx="365760" cy="414536"/>
            <a:chOff x="3300325" y="249875"/>
            <a:chExt cx="433725" cy="480900"/>
          </a:xfrm>
        </p:grpSpPr>
        <p:sp>
          <p:nvSpPr>
            <p:cNvPr id="308" name="Google Shape;308;p13"/>
            <p:cNvSpPr/>
            <p:nvPr/>
          </p:nvSpPr>
          <p:spPr>
            <a:xfrm>
              <a:off x="3610875" y="334550"/>
              <a:ext cx="56475" cy="28250"/>
            </a:xfrm>
            <a:custGeom>
              <a:rect b="b" l="l" r="r" t="t"/>
              <a:pathLst>
                <a:path extrusionOk="0" h="1130" w="2259">
                  <a:moveTo>
                    <a:pt x="566" y="0"/>
                  </a:moveTo>
                  <a:cubicBezTo>
                    <a:pt x="253" y="0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3"/>
            <p:cNvSpPr/>
            <p:nvPr/>
          </p:nvSpPr>
          <p:spPr>
            <a:xfrm>
              <a:off x="3467675" y="249875"/>
              <a:ext cx="46400" cy="56475"/>
            </a:xfrm>
            <a:custGeom>
              <a:rect b="b" l="l" r="r" t="t"/>
              <a:pathLst>
                <a:path extrusionOk="0" h="2259" w="1856">
                  <a:moveTo>
                    <a:pt x="647" y="1"/>
                  </a:moveTo>
                  <a:cubicBezTo>
                    <a:pt x="562" y="1"/>
                    <a:pt x="476" y="20"/>
                    <a:pt x="395" y="60"/>
                  </a:cubicBezTo>
                  <a:cubicBezTo>
                    <a:pt x="115" y="198"/>
                    <a:pt x="1" y="539"/>
                    <a:pt x="142" y="819"/>
                  </a:cubicBezTo>
                  <a:lnTo>
                    <a:pt x="705" y="1948"/>
                  </a:lnTo>
                  <a:cubicBezTo>
                    <a:pt x="806" y="2144"/>
                    <a:pt x="1004" y="2259"/>
                    <a:pt x="1211" y="2259"/>
                  </a:cubicBezTo>
                  <a:cubicBezTo>
                    <a:pt x="1296" y="2259"/>
                    <a:pt x="1383" y="2239"/>
                    <a:pt x="1464" y="2198"/>
                  </a:cubicBezTo>
                  <a:cubicBezTo>
                    <a:pt x="1744" y="2059"/>
                    <a:pt x="1856" y="1722"/>
                    <a:pt x="1717" y="1442"/>
                  </a:cubicBezTo>
                  <a:lnTo>
                    <a:pt x="1151" y="313"/>
                  </a:lnTo>
                  <a:cubicBezTo>
                    <a:pt x="1053" y="114"/>
                    <a:pt x="853" y="1"/>
                    <a:pt x="6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3"/>
            <p:cNvSpPr/>
            <p:nvPr/>
          </p:nvSpPr>
          <p:spPr>
            <a:xfrm>
              <a:off x="3566525" y="249875"/>
              <a:ext cx="46400" cy="56475"/>
            </a:xfrm>
            <a:custGeom>
              <a:rect b="b" l="l" r="r" t="t"/>
              <a:pathLst>
                <a:path extrusionOk="0" h="2259" w="1856">
                  <a:moveTo>
                    <a:pt x="1210" y="1"/>
                  </a:moveTo>
                  <a:cubicBezTo>
                    <a:pt x="1003" y="1"/>
                    <a:pt x="803" y="114"/>
                    <a:pt x="705" y="313"/>
                  </a:cubicBezTo>
                  <a:lnTo>
                    <a:pt x="139" y="1442"/>
                  </a:lnTo>
                  <a:cubicBezTo>
                    <a:pt x="1" y="1719"/>
                    <a:pt x="115" y="2059"/>
                    <a:pt x="392" y="2198"/>
                  </a:cubicBezTo>
                  <a:cubicBezTo>
                    <a:pt x="474" y="2239"/>
                    <a:pt x="561" y="2259"/>
                    <a:pt x="646" y="2259"/>
                  </a:cubicBezTo>
                  <a:cubicBezTo>
                    <a:pt x="852" y="2259"/>
                    <a:pt x="1051" y="2144"/>
                    <a:pt x="1151" y="1948"/>
                  </a:cubicBezTo>
                  <a:lnTo>
                    <a:pt x="1714" y="819"/>
                  </a:lnTo>
                  <a:cubicBezTo>
                    <a:pt x="1856" y="539"/>
                    <a:pt x="1741" y="198"/>
                    <a:pt x="1461" y="60"/>
                  </a:cubicBezTo>
                  <a:cubicBezTo>
                    <a:pt x="1381" y="20"/>
                    <a:pt x="1295" y="1"/>
                    <a:pt x="12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13"/>
            <p:cNvSpPr/>
            <p:nvPr/>
          </p:nvSpPr>
          <p:spPr>
            <a:xfrm>
              <a:off x="3413250" y="334550"/>
              <a:ext cx="56500" cy="28250"/>
            </a:xfrm>
            <a:custGeom>
              <a:rect b="b" l="l" r="r" t="t"/>
              <a:pathLst>
                <a:path extrusionOk="0" h="1130" w="2260"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3"/>
            <p:cNvSpPr/>
            <p:nvPr/>
          </p:nvSpPr>
          <p:spPr>
            <a:xfrm>
              <a:off x="3300325" y="476675"/>
              <a:ext cx="84725" cy="254100"/>
            </a:xfrm>
            <a:custGeom>
              <a:rect b="b" l="l" r="r" t="t"/>
              <a:pathLst>
                <a:path extrusionOk="0" h="10164" w="3389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lnTo>
                    <a:pt x="1" y="9598"/>
                  </a:lnTo>
                  <a:cubicBezTo>
                    <a:pt x="1" y="9911"/>
                    <a:pt x="254" y="10164"/>
                    <a:pt x="567" y="10164"/>
                  </a:cubicBezTo>
                  <a:lnTo>
                    <a:pt x="2825" y="10164"/>
                  </a:lnTo>
                  <a:cubicBezTo>
                    <a:pt x="3136" y="10164"/>
                    <a:pt x="3389" y="9911"/>
                    <a:pt x="3389" y="9598"/>
                  </a:cubicBezTo>
                  <a:lnTo>
                    <a:pt x="3389" y="564"/>
                  </a:lnTo>
                  <a:cubicBezTo>
                    <a:pt x="3389" y="251"/>
                    <a:pt x="3136" y="1"/>
                    <a:pt x="28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13"/>
            <p:cNvSpPr/>
            <p:nvPr/>
          </p:nvSpPr>
          <p:spPr>
            <a:xfrm>
              <a:off x="3413250" y="335525"/>
              <a:ext cx="320800" cy="395250"/>
            </a:xfrm>
            <a:custGeom>
              <a:rect b="b" l="l" r="r" t="t"/>
              <a:pathLst>
                <a:path extrusionOk="0" h="15810" w="12832">
                  <a:moveTo>
                    <a:pt x="3954" y="1"/>
                  </a:moveTo>
                  <a:cubicBezTo>
                    <a:pt x="3641" y="1"/>
                    <a:pt x="3388" y="254"/>
                    <a:pt x="3388" y="564"/>
                  </a:cubicBezTo>
                  <a:cubicBezTo>
                    <a:pt x="3388" y="1871"/>
                    <a:pt x="2879" y="4225"/>
                    <a:pt x="1922" y="5186"/>
                  </a:cubicBezTo>
                  <a:cubicBezTo>
                    <a:pt x="1274" y="5830"/>
                    <a:pt x="723" y="6065"/>
                    <a:pt x="1" y="6427"/>
                  </a:cubicBezTo>
                  <a:lnTo>
                    <a:pt x="1" y="14897"/>
                  </a:lnTo>
                  <a:cubicBezTo>
                    <a:pt x="1109" y="15268"/>
                    <a:pt x="2515" y="15810"/>
                    <a:pt x="4659" y="15810"/>
                  </a:cubicBezTo>
                  <a:lnTo>
                    <a:pt x="8351" y="15810"/>
                  </a:lnTo>
                  <a:cubicBezTo>
                    <a:pt x="9567" y="15810"/>
                    <a:pt x="10516" y="14680"/>
                    <a:pt x="10046" y="13491"/>
                  </a:cubicBezTo>
                  <a:cubicBezTo>
                    <a:pt x="11019" y="13226"/>
                    <a:pt x="11546" y="12172"/>
                    <a:pt x="11175" y="11233"/>
                  </a:cubicBezTo>
                  <a:cubicBezTo>
                    <a:pt x="12386" y="10901"/>
                    <a:pt x="12832" y="9408"/>
                    <a:pt x="11992" y="8468"/>
                  </a:cubicBezTo>
                  <a:cubicBezTo>
                    <a:pt x="12314" y="8107"/>
                    <a:pt x="12467" y="7625"/>
                    <a:pt x="12410" y="7143"/>
                  </a:cubicBezTo>
                  <a:cubicBezTo>
                    <a:pt x="12311" y="6267"/>
                    <a:pt x="11495" y="5647"/>
                    <a:pt x="10612" y="5647"/>
                  </a:cubicBezTo>
                  <a:lnTo>
                    <a:pt x="6213" y="5647"/>
                  </a:lnTo>
                  <a:cubicBezTo>
                    <a:pt x="6586" y="4975"/>
                    <a:pt x="6785" y="3081"/>
                    <a:pt x="6776" y="2307"/>
                  </a:cubicBezTo>
                  <a:cubicBezTo>
                    <a:pt x="6761" y="1027"/>
                    <a:pt x="5701" y="1"/>
                    <a:pt x="44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4" name="Google Shape;314;p13"/>
          <p:cNvGrpSpPr/>
          <p:nvPr/>
        </p:nvGrpSpPr>
        <p:grpSpPr>
          <a:xfrm>
            <a:off x="3422098" y="3763901"/>
            <a:ext cx="365753" cy="365753"/>
            <a:chOff x="1492675" y="4992125"/>
            <a:chExt cx="481825" cy="481825"/>
          </a:xfrm>
        </p:grpSpPr>
        <p:sp>
          <p:nvSpPr>
            <p:cNvPr id="315" name="Google Shape;315;p13"/>
            <p:cNvSpPr/>
            <p:nvPr/>
          </p:nvSpPr>
          <p:spPr>
            <a:xfrm>
              <a:off x="1492675" y="499212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13"/>
            <p:cNvSpPr/>
            <p:nvPr/>
          </p:nvSpPr>
          <p:spPr>
            <a:xfrm>
              <a:off x="1639625" y="5170175"/>
              <a:ext cx="190100" cy="125750"/>
            </a:xfrm>
            <a:custGeom>
              <a:rect b="b" l="l" r="r" t="t"/>
              <a:pathLst>
                <a:path extrusionOk="0" h="5030" w="7604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17" name="Google Shape;317;p13"/>
          <p:cNvPicPr preferRelativeResize="0"/>
          <p:nvPr/>
        </p:nvPicPr>
        <p:blipFill rotWithShape="1">
          <a:blip r:embed="rId3">
            <a:alphaModFix/>
          </a:blip>
          <a:srcRect b="0" l="9726" r="19748" t="0"/>
          <a:stretch/>
        </p:blipFill>
        <p:spPr>
          <a:xfrm>
            <a:off x="7279950" y="3778075"/>
            <a:ext cx="121590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13"/>
          <p:cNvPicPr preferRelativeResize="0"/>
          <p:nvPr/>
        </p:nvPicPr>
        <p:blipFill rotWithShape="1">
          <a:blip r:embed="rId4">
            <a:alphaModFix/>
          </a:blip>
          <a:srcRect b="0" l="12758" r="17638" t="0"/>
          <a:stretch/>
        </p:blipFill>
        <p:spPr>
          <a:xfrm>
            <a:off x="905425" y="3787288"/>
            <a:ext cx="129277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4850" y="1048900"/>
            <a:ext cx="6138949" cy="4094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2"/>
          <p:cNvSpPr txBox="1"/>
          <p:nvPr>
            <p:ph type="title"/>
          </p:nvPr>
        </p:nvSpPr>
        <p:spPr>
          <a:xfrm>
            <a:off x="0" y="38375"/>
            <a:ext cx="34980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El Bucle Híbrido VQE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6" name="Google Shape;326;p12"/>
          <p:cNvSpPr txBox="1"/>
          <p:nvPr/>
        </p:nvSpPr>
        <p:spPr>
          <a:xfrm>
            <a:off x="89650" y="1297100"/>
            <a:ext cx="2433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Ansatz Cuántico</a:t>
            </a:r>
            <a:endParaRPr/>
          </a:p>
        </p:txBody>
      </p:sp>
      <p:sp>
        <p:nvSpPr>
          <p:cNvPr id="327" name="Google Shape;327;p12"/>
          <p:cNvSpPr txBox="1"/>
          <p:nvPr/>
        </p:nvSpPr>
        <p:spPr>
          <a:xfrm>
            <a:off x="89650" y="2990300"/>
            <a:ext cx="2915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Optimización Clásica</a:t>
            </a:r>
            <a:endParaRPr/>
          </a:p>
        </p:txBody>
      </p:sp>
      <p:sp>
        <p:nvSpPr>
          <p:cNvPr id="328" name="Google Shape;328;p12"/>
          <p:cNvSpPr txBox="1"/>
          <p:nvPr/>
        </p:nvSpPr>
        <p:spPr>
          <a:xfrm>
            <a:off x="89650" y="1672188"/>
            <a:ext cx="3735000" cy="9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52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Circuito parametrizado con compuertas de rotación Ry y CNOT para explorar el espacio de Hilbert.</a:t>
            </a:r>
            <a:endParaRPr sz="1448">
              <a:solidFill>
                <a:schemeClr val="dk1"/>
              </a:solidFill>
            </a:endParaRPr>
          </a:p>
        </p:txBody>
      </p:sp>
      <p:sp>
        <p:nvSpPr>
          <p:cNvPr id="329" name="Google Shape;329;p12"/>
          <p:cNvSpPr txBox="1"/>
          <p:nvPr/>
        </p:nvSpPr>
        <p:spPr>
          <a:xfrm>
            <a:off x="89650" y="3429464"/>
            <a:ext cx="3735000" cy="9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52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Algoritmos de descenso de gradiente ajustan ángulos para minimizar el valor esperado del Hamiltoniano.</a:t>
            </a:r>
            <a:endParaRPr sz="1448">
              <a:solidFill>
                <a:schemeClr val="dk1"/>
              </a:solidFill>
            </a:endParaRPr>
          </a:p>
        </p:txBody>
      </p:sp>
      <p:sp>
        <p:nvSpPr>
          <p:cNvPr id="330" name="Google Shape;33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5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Implementación (PennyLane)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457200" y="2032225"/>
            <a:ext cx="8229600" cy="107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1565050" y="1875300"/>
            <a:ext cx="1392900" cy="1392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3875550" y="1875300"/>
            <a:ext cx="1392900" cy="1392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6152750" y="1875300"/>
            <a:ext cx="1392900" cy="13929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5"/>
          <p:cNvSpPr txBox="1"/>
          <p:nvPr/>
        </p:nvSpPr>
        <p:spPr>
          <a:xfrm>
            <a:off x="1240950" y="1131450"/>
            <a:ext cx="20409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Etapa 1</a:t>
            </a:r>
            <a:endParaRPr b="1" i="0" sz="1600" u="none" cap="none" strike="noStrike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41" name="Google Shape;341;p15"/>
          <p:cNvSpPr txBox="1"/>
          <p:nvPr/>
        </p:nvSpPr>
        <p:spPr>
          <a:xfrm>
            <a:off x="1386400" y="3562350"/>
            <a:ext cx="17502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Definición de constantes físicas (D, γ, Bz).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15"/>
          <p:cNvSpPr txBox="1"/>
          <p:nvPr/>
        </p:nvSpPr>
        <p:spPr>
          <a:xfrm>
            <a:off x="3772050" y="3562350"/>
            <a:ext cx="15999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Operadores de Pauli para Sz y Sz².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p15"/>
          <p:cNvSpPr txBox="1"/>
          <p:nvPr/>
        </p:nvSpPr>
        <p:spPr>
          <a:xfrm>
            <a:off x="6119450" y="3562350"/>
            <a:ext cx="14595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Construcción del Hamiltoniano lineal.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15"/>
          <p:cNvSpPr txBox="1"/>
          <p:nvPr/>
        </p:nvSpPr>
        <p:spPr>
          <a:xfrm>
            <a:off x="3551550" y="1131450"/>
            <a:ext cx="20409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Etapa 2</a:t>
            </a:r>
            <a:endParaRPr b="1" i="0" sz="1600" u="none" cap="none" strike="noStrike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45" name="Google Shape;345;p15"/>
          <p:cNvSpPr txBox="1"/>
          <p:nvPr/>
        </p:nvSpPr>
        <p:spPr>
          <a:xfrm>
            <a:off x="5828750" y="1131450"/>
            <a:ext cx="20409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Etapa 3</a:t>
            </a:r>
            <a:endParaRPr b="1" i="0" sz="1600" u="none" cap="none" strike="noStrike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346" name="Google Shape;346;p15"/>
          <p:cNvGrpSpPr/>
          <p:nvPr/>
        </p:nvGrpSpPr>
        <p:grpSpPr>
          <a:xfrm>
            <a:off x="2028983" y="2335682"/>
            <a:ext cx="457198" cy="472455"/>
            <a:chOff x="-65129950" y="2646800"/>
            <a:chExt cx="311125" cy="317425"/>
          </a:xfrm>
        </p:grpSpPr>
        <p:sp>
          <p:nvSpPr>
            <p:cNvPr id="347" name="Google Shape;347;p15"/>
            <p:cNvSpPr/>
            <p:nvPr/>
          </p:nvSpPr>
          <p:spPr>
            <a:xfrm>
              <a:off x="-65129950" y="2646800"/>
              <a:ext cx="311125" cy="317425"/>
            </a:xfrm>
            <a:custGeom>
              <a:rect b="b" l="l" r="r" t="t"/>
              <a:pathLst>
                <a:path extrusionOk="0" h="12697" w="12445">
                  <a:moveTo>
                    <a:pt x="6648" y="851"/>
                  </a:moveTo>
                  <a:lnTo>
                    <a:pt x="6648" y="1954"/>
                  </a:lnTo>
                  <a:lnTo>
                    <a:pt x="5860" y="1954"/>
                  </a:lnTo>
                  <a:lnTo>
                    <a:pt x="5860" y="851"/>
                  </a:lnTo>
                  <a:close/>
                  <a:moveTo>
                    <a:pt x="1261" y="1954"/>
                  </a:moveTo>
                  <a:cubicBezTo>
                    <a:pt x="1355" y="1954"/>
                    <a:pt x="1450" y="1985"/>
                    <a:pt x="1544" y="2080"/>
                  </a:cubicBezTo>
                  <a:cubicBezTo>
                    <a:pt x="1733" y="2237"/>
                    <a:pt x="1733" y="2521"/>
                    <a:pt x="1576" y="2678"/>
                  </a:cubicBezTo>
                  <a:cubicBezTo>
                    <a:pt x="1497" y="2757"/>
                    <a:pt x="1387" y="2797"/>
                    <a:pt x="1276" y="2797"/>
                  </a:cubicBezTo>
                  <a:cubicBezTo>
                    <a:pt x="1166" y="2797"/>
                    <a:pt x="1056" y="2757"/>
                    <a:pt x="977" y="2678"/>
                  </a:cubicBezTo>
                  <a:cubicBezTo>
                    <a:pt x="819" y="2521"/>
                    <a:pt x="819" y="2237"/>
                    <a:pt x="977" y="2080"/>
                  </a:cubicBezTo>
                  <a:cubicBezTo>
                    <a:pt x="1072" y="1985"/>
                    <a:pt x="1198" y="1954"/>
                    <a:pt x="1261" y="1954"/>
                  </a:cubicBezTo>
                  <a:close/>
                  <a:moveTo>
                    <a:pt x="11216" y="1954"/>
                  </a:moveTo>
                  <a:cubicBezTo>
                    <a:pt x="11468" y="1954"/>
                    <a:pt x="11626" y="2143"/>
                    <a:pt x="11626" y="2395"/>
                  </a:cubicBezTo>
                  <a:cubicBezTo>
                    <a:pt x="11626" y="2615"/>
                    <a:pt x="11437" y="2836"/>
                    <a:pt x="11216" y="2836"/>
                  </a:cubicBezTo>
                  <a:cubicBezTo>
                    <a:pt x="11027" y="2836"/>
                    <a:pt x="10807" y="2615"/>
                    <a:pt x="10807" y="2395"/>
                  </a:cubicBezTo>
                  <a:cubicBezTo>
                    <a:pt x="10807" y="2143"/>
                    <a:pt x="10996" y="1954"/>
                    <a:pt x="11216" y="1954"/>
                  </a:cubicBezTo>
                  <a:close/>
                  <a:moveTo>
                    <a:pt x="6270" y="2773"/>
                  </a:moveTo>
                  <a:cubicBezTo>
                    <a:pt x="8759" y="2773"/>
                    <a:pt x="10807" y="4821"/>
                    <a:pt x="10807" y="7341"/>
                  </a:cubicBezTo>
                  <a:cubicBezTo>
                    <a:pt x="10807" y="9861"/>
                    <a:pt x="8759" y="11909"/>
                    <a:pt x="6270" y="11909"/>
                  </a:cubicBezTo>
                  <a:cubicBezTo>
                    <a:pt x="3781" y="11909"/>
                    <a:pt x="1733" y="9861"/>
                    <a:pt x="1733" y="7341"/>
                  </a:cubicBezTo>
                  <a:cubicBezTo>
                    <a:pt x="1733" y="4821"/>
                    <a:pt x="3781" y="2773"/>
                    <a:pt x="6270" y="2773"/>
                  </a:cubicBezTo>
                  <a:close/>
                  <a:moveTo>
                    <a:pt x="4663" y="0"/>
                  </a:moveTo>
                  <a:cubicBezTo>
                    <a:pt x="4411" y="0"/>
                    <a:pt x="4254" y="189"/>
                    <a:pt x="4254" y="410"/>
                  </a:cubicBezTo>
                  <a:cubicBezTo>
                    <a:pt x="4254" y="662"/>
                    <a:pt x="4474" y="851"/>
                    <a:pt x="4663" y="851"/>
                  </a:cubicBezTo>
                  <a:lnTo>
                    <a:pt x="5104" y="851"/>
                  </a:lnTo>
                  <a:lnTo>
                    <a:pt x="5104" y="2111"/>
                  </a:lnTo>
                  <a:cubicBezTo>
                    <a:pt x="4254" y="2300"/>
                    <a:pt x="3466" y="2710"/>
                    <a:pt x="2836" y="3245"/>
                  </a:cubicBezTo>
                  <a:lnTo>
                    <a:pt x="2489" y="2899"/>
                  </a:lnTo>
                  <a:cubicBezTo>
                    <a:pt x="2741" y="2426"/>
                    <a:pt x="2647" y="1891"/>
                    <a:pt x="2269" y="1481"/>
                  </a:cubicBezTo>
                  <a:cubicBezTo>
                    <a:pt x="2032" y="1245"/>
                    <a:pt x="1717" y="1127"/>
                    <a:pt x="1394" y="1127"/>
                  </a:cubicBezTo>
                  <a:cubicBezTo>
                    <a:pt x="1072" y="1127"/>
                    <a:pt x="741" y="1245"/>
                    <a:pt x="473" y="1481"/>
                  </a:cubicBezTo>
                  <a:cubicBezTo>
                    <a:pt x="0" y="1954"/>
                    <a:pt x="0" y="2741"/>
                    <a:pt x="473" y="3245"/>
                  </a:cubicBezTo>
                  <a:cubicBezTo>
                    <a:pt x="725" y="3498"/>
                    <a:pt x="1040" y="3624"/>
                    <a:pt x="1355" y="3624"/>
                  </a:cubicBezTo>
                  <a:cubicBezTo>
                    <a:pt x="1544" y="3624"/>
                    <a:pt x="1702" y="3561"/>
                    <a:pt x="1891" y="3498"/>
                  </a:cubicBezTo>
                  <a:lnTo>
                    <a:pt x="2269" y="3844"/>
                  </a:lnTo>
                  <a:cubicBezTo>
                    <a:pt x="1481" y="4789"/>
                    <a:pt x="946" y="6018"/>
                    <a:pt x="946" y="7341"/>
                  </a:cubicBezTo>
                  <a:cubicBezTo>
                    <a:pt x="946" y="10303"/>
                    <a:pt x="3371" y="12697"/>
                    <a:pt x="6301" y="12697"/>
                  </a:cubicBezTo>
                  <a:cubicBezTo>
                    <a:pt x="9263" y="12697"/>
                    <a:pt x="11657" y="10303"/>
                    <a:pt x="11657" y="7341"/>
                  </a:cubicBezTo>
                  <a:cubicBezTo>
                    <a:pt x="11657" y="6018"/>
                    <a:pt x="11185" y="4789"/>
                    <a:pt x="10365" y="3844"/>
                  </a:cubicBezTo>
                  <a:lnTo>
                    <a:pt x="10712" y="3498"/>
                  </a:lnTo>
                  <a:cubicBezTo>
                    <a:pt x="10838" y="3561"/>
                    <a:pt x="11027" y="3624"/>
                    <a:pt x="11216" y="3624"/>
                  </a:cubicBezTo>
                  <a:cubicBezTo>
                    <a:pt x="11909" y="3624"/>
                    <a:pt x="12445" y="3056"/>
                    <a:pt x="12445" y="2363"/>
                  </a:cubicBezTo>
                  <a:cubicBezTo>
                    <a:pt x="12445" y="1670"/>
                    <a:pt x="11909" y="1135"/>
                    <a:pt x="11216" y="1135"/>
                  </a:cubicBezTo>
                  <a:cubicBezTo>
                    <a:pt x="10555" y="1135"/>
                    <a:pt x="10019" y="1670"/>
                    <a:pt x="10019" y="2363"/>
                  </a:cubicBezTo>
                  <a:cubicBezTo>
                    <a:pt x="10019" y="2552"/>
                    <a:pt x="10050" y="2710"/>
                    <a:pt x="10113" y="2899"/>
                  </a:cubicBezTo>
                  <a:lnTo>
                    <a:pt x="9767" y="3245"/>
                  </a:lnTo>
                  <a:cubicBezTo>
                    <a:pt x="9137" y="2710"/>
                    <a:pt x="8349" y="2300"/>
                    <a:pt x="7530" y="2111"/>
                  </a:cubicBezTo>
                  <a:lnTo>
                    <a:pt x="7530" y="851"/>
                  </a:lnTo>
                  <a:lnTo>
                    <a:pt x="7971" y="851"/>
                  </a:lnTo>
                  <a:cubicBezTo>
                    <a:pt x="8192" y="851"/>
                    <a:pt x="8349" y="662"/>
                    <a:pt x="8349" y="410"/>
                  </a:cubicBezTo>
                  <a:cubicBezTo>
                    <a:pt x="8349" y="189"/>
                    <a:pt x="8160" y="0"/>
                    <a:pt x="79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5"/>
            <p:cNvSpPr/>
            <p:nvPr/>
          </p:nvSpPr>
          <p:spPr>
            <a:xfrm>
              <a:off x="-65066950" y="2738175"/>
              <a:ext cx="187475" cy="185100"/>
            </a:xfrm>
            <a:custGeom>
              <a:rect b="b" l="l" r="r" t="t"/>
              <a:pathLst>
                <a:path extrusionOk="0" h="7404" w="7499">
                  <a:moveTo>
                    <a:pt x="3309" y="819"/>
                  </a:moveTo>
                  <a:lnTo>
                    <a:pt x="3309" y="3686"/>
                  </a:lnTo>
                  <a:cubicBezTo>
                    <a:pt x="3309" y="3938"/>
                    <a:pt x="3498" y="4127"/>
                    <a:pt x="3718" y="4127"/>
                  </a:cubicBezTo>
                  <a:lnTo>
                    <a:pt x="6612" y="4127"/>
                  </a:lnTo>
                  <a:cubicBezTo>
                    <a:pt x="6410" y="5529"/>
                    <a:pt x="5188" y="6585"/>
                    <a:pt x="3750" y="6585"/>
                  </a:cubicBezTo>
                  <a:cubicBezTo>
                    <a:pt x="2143" y="6585"/>
                    <a:pt x="820" y="5261"/>
                    <a:pt x="820" y="3686"/>
                  </a:cubicBezTo>
                  <a:cubicBezTo>
                    <a:pt x="820" y="2237"/>
                    <a:pt x="1891" y="1008"/>
                    <a:pt x="3309" y="819"/>
                  </a:cubicBezTo>
                  <a:close/>
                  <a:moveTo>
                    <a:pt x="3750" y="0"/>
                  </a:moveTo>
                  <a:cubicBezTo>
                    <a:pt x="1702" y="0"/>
                    <a:pt x="1" y="1638"/>
                    <a:pt x="1" y="3686"/>
                  </a:cubicBezTo>
                  <a:cubicBezTo>
                    <a:pt x="1" y="5734"/>
                    <a:pt x="1671" y="7404"/>
                    <a:pt x="3750" y="7404"/>
                  </a:cubicBezTo>
                  <a:cubicBezTo>
                    <a:pt x="5798" y="7404"/>
                    <a:pt x="7499" y="5734"/>
                    <a:pt x="7499" y="3686"/>
                  </a:cubicBezTo>
                  <a:cubicBezTo>
                    <a:pt x="7499" y="3466"/>
                    <a:pt x="7278" y="3277"/>
                    <a:pt x="7058" y="3277"/>
                  </a:cubicBezTo>
                  <a:lnTo>
                    <a:pt x="4128" y="3277"/>
                  </a:lnTo>
                  <a:lnTo>
                    <a:pt x="4128" y="378"/>
                  </a:lnTo>
                  <a:cubicBezTo>
                    <a:pt x="4128" y="158"/>
                    <a:pt x="3939" y="0"/>
                    <a:pt x="37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9" name="Google Shape;349;p15"/>
          <p:cNvGrpSpPr/>
          <p:nvPr/>
        </p:nvGrpSpPr>
        <p:grpSpPr>
          <a:xfrm>
            <a:off x="4343402" y="2344321"/>
            <a:ext cx="457195" cy="457205"/>
            <a:chOff x="1412450" y="1954475"/>
            <a:chExt cx="297750" cy="296175"/>
          </a:xfrm>
        </p:grpSpPr>
        <p:sp>
          <p:nvSpPr>
            <p:cNvPr id="350" name="Google Shape;350;p15"/>
            <p:cNvSpPr/>
            <p:nvPr/>
          </p:nvSpPr>
          <p:spPr>
            <a:xfrm>
              <a:off x="1483350" y="2023800"/>
              <a:ext cx="155975" cy="155975"/>
            </a:xfrm>
            <a:custGeom>
              <a:rect b="b" l="l" r="r" t="t"/>
              <a:pathLst>
                <a:path extrusionOk="0" h="6239" w="6239">
                  <a:moveTo>
                    <a:pt x="3119" y="2079"/>
                  </a:moveTo>
                  <a:cubicBezTo>
                    <a:pt x="3529" y="2079"/>
                    <a:pt x="3844" y="2395"/>
                    <a:pt x="3844" y="2773"/>
                  </a:cubicBezTo>
                  <a:cubicBezTo>
                    <a:pt x="3844" y="3182"/>
                    <a:pt x="3529" y="3497"/>
                    <a:pt x="3119" y="3497"/>
                  </a:cubicBezTo>
                  <a:cubicBezTo>
                    <a:pt x="2741" y="3497"/>
                    <a:pt x="2426" y="3182"/>
                    <a:pt x="2426" y="2773"/>
                  </a:cubicBezTo>
                  <a:cubicBezTo>
                    <a:pt x="2426" y="2395"/>
                    <a:pt x="2741" y="2079"/>
                    <a:pt x="3119" y="2079"/>
                  </a:cubicBezTo>
                  <a:close/>
                  <a:moveTo>
                    <a:pt x="3119" y="725"/>
                  </a:moveTo>
                  <a:cubicBezTo>
                    <a:pt x="4474" y="725"/>
                    <a:pt x="5577" y="1827"/>
                    <a:pt x="5577" y="3182"/>
                  </a:cubicBezTo>
                  <a:cubicBezTo>
                    <a:pt x="5577" y="3686"/>
                    <a:pt x="5388" y="4159"/>
                    <a:pt x="5136" y="4537"/>
                  </a:cubicBezTo>
                  <a:cubicBezTo>
                    <a:pt x="4884" y="4190"/>
                    <a:pt x="4537" y="3907"/>
                    <a:pt x="4191" y="3718"/>
                  </a:cubicBezTo>
                  <a:cubicBezTo>
                    <a:pt x="4411" y="3497"/>
                    <a:pt x="4537" y="3182"/>
                    <a:pt x="4537" y="2804"/>
                  </a:cubicBezTo>
                  <a:cubicBezTo>
                    <a:pt x="4537" y="2079"/>
                    <a:pt x="3907" y="1449"/>
                    <a:pt x="3151" y="1449"/>
                  </a:cubicBezTo>
                  <a:cubicBezTo>
                    <a:pt x="2426" y="1449"/>
                    <a:pt x="1796" y="2079"/>
                    <a:pt x="1796" y="2804"/>
                  </a:cubicBezTo>
                  <a:cubicBezTo>
                    <a:pt x="1796" y="3182"/>
                    <a:pt x="1891" y="3497"/>
                    <a:pt x="2143" y="3718"/>
                  </a:cubicBezTo>
                  <a:cubicBezTo>
                    <a:pt x="1733" y="3907"/>
                    <a:pt x="1418" y="4190"/>
                    <a:pt x="1198" y="4537"/>
                  </a:cubicBezTo>
                  <a:cubicBezTo>
                    <a:pt x="914" y="4159"/>
                    <a:pt x="756" y="3686"/>
                    <a:pt x="756" y="3182"/>
                  </a:cubicBezTo>
                  <a:cubicBezTo>
                    <a:pt x="662" y="1796"/>
                    <a:pt x="1796" y="725"/>
                    <a:pt x="3119" y="725"/>
                  </a:cubicBezTo>
                  <a:close/>
                  <a:moveTo>
                    <a:pt x="3119" y="4190"/>
                  </a:moveTo>
                  <a:cubicBezTo>
                    <a:pt x="3749" y="4190"/>
                    <a:pt x="4317" y="4505"/>
                    <a:pt x="4632" y="5041"/>
                  </a:cubicBezTo>
                  <a:cubicBezTo>
                    <a:pt x="4222" y="5387"/>
                    <a:pt x="3686" y="5577"/>
                    <a:pt x="3119" y="5577"/>
                  </a:cubicBezTo>
                  <a:cubicBezTo>
                    <a:pt x="2584" y="5577"/>
                    <a:pt x="2017" y="5387"/>
                    <a:pt x="1639" y="5041"/>
                  </a:cubicBezTo>
                  <a:cubicBezTo>
                    <a:pt x="1954" y="4505"/>
                    <a:pt x="2489" y="4190"/>
                    <a:pt x="3119" y="4190"/>
                  </a:cubicBezTo>
                  <a:close/>
                  <a:moveTo>
                    <a:pt x="3119" y="0"/>
                  </a:moveTo>
                  <a:cubicBezTo>
                    <a:pt x="1387" y="0"/>
                    <a:pt x="0" y="1418"/>
                    <a:pt x="0" y="3119"/>
                  </a:cubicBezTo>
                  <a:cubicBezTo>
                    <a:pt x="0" y="4852"/>
                    <a:pt x="1387" y="6238"/>
                    <a:pt x="3119" y="6238"/>
                  </a:cubicBezTo>
                  <a:cubicBezTo>
                    <a:pt x="4852" y="6238"/>
                    <a:pt x="6238" y="4820"/>
                    <a:pt x="6238" y="3119"/>
                  </a:cubicBezTo>
                  <a:cubicBezTo>
                    <a:pt x="6238" y="1386"/>
                    <a:pt x="4821" y="0"/>
                    <a:pt x="31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5"/>
            <p:cNvSpPr/>
            <p:nvPr/>
          </p:nvSpPr>
          <p:spPr>
            <a:xfrm>
              <a:off x="1412450" y="1954475"/>
              <a:ext cx="297750" cy="296175"/>
            </a:xfrm>
            <a:custGeom>
              <a:rect b="b" l="l" r="r" t="t"/>
              <a:pathLst>
                <a:path extrusionOk="0" h="11847" w="11910">
                  <a:moveTo>
                    <a:pt x="6365" y="662"/>
                  </a:moveTo>
                  <a:lnTo>
                    <a:pt x="6522" y="1513"/>
                  </a:lnTo>
                  <a:cubicBezTo>
                    <a:pt x="6554" y="1702"/>
                    <a:pt x="6617" y="1765"/>
                    <a:pt x="6774" y="1797"/>
                  </a:cubicBezTo>
                  <a:cubicBezTo>
                    <a:pt x="7342" y="1923"/>
                    <a:pt x="7814" y="2112"/>
                    <a:pt x="8287" y="2427"/>
                  </a:cubicBezTo>
                  <a:cubicBezTo>
                    <a:pt x="8350" y="2474"/>
                    <a:pt x="8421" y="2498"/>
                    <a:pt x="8488" y="2498"/>
                  </a:cubicBezTo>
                  <a:cubicBezTo>
                    <a:pt x="8554" y="2498"/>
                    <a:pt x="8618" y="2474"/>
                    <a:pt x="8665" y="2427"/>
                  </a:cubicBezTo>
                  <a:lnTo>
                    <a:pt x="9389" y="1923"/>
                  </a:lnTo>
                  <a:lnTo>
                    <a:pt x="9925" y="2490"/>
                  </a:lnTo>
                  <a:lnTo>
                    <a:pt x="9421" y="3183"/>
                  </a:lnTo>
                  <a:cubicBezTo>
                    <a:pt x="9358" y="3309"/>
                    <a:pt x="9358" y="3466"/>
                    <a:pt x="9421" y="3592"/>
                  </a:cubicBezTo>
                  <a:cubicBezTo>
                    <a:pt x="9736" y="4065"/>
                    <a:pt x="9925" y="4537"/>
                    <a:pt x="10051" y="5073"/>
                  </a:cubicBezTo>
                  <a:cubicBezTo>
                    <a:pt x="10082" y="5231"/>
                    <a:pt x="10209" y="5294"/>
                    <a:pt x="10335" y="5357"/>
                  </a:cubicBezTo>
                  <a:lnTo>
                    <a:pt x="11185" y="5514"/>
                  </a:lnTo>
                  <a:lnTo>
                    <a:pt x="11185" y="6302"/>
                  </a:lnTo>
                  <a:lnTo>
                    <a:pt x="10335" y="6459"/>
                  </a:lnTo>
                  <a:cubicBezTo>
                    <a:pt x="10177" y="6491"/>
                    <a:pt x="10082" y="6585"/>
                    <a:pt x="10051" y="6743"/>
                  </a:cubicBezTo>
                  <a:cubicBezTo>
                    <a:pt x="9925" y="7278"/>
                    <a:pt x="9736" y="7751"/>
                    <a:pt x="9421" y="8224"/>
                  </a:cubicBezTo>
                  <a:cubicBezTo>
                    <a:pt x="9358" y="8350"/>
                    <a:pt x="9358" y="8507"/>
                    <a:pt x="9421" y="8633"/>
                  </a:cubicBezTo>
                  <a:lnTo>
                    <a:pt x="9925" y="9326"/>
                  </a:lnTo>
                  <a:lnTo>
                    <a:pt x="9389" y="9893"/>
                  </a:lnTo>
                  <a:lnTo>
                    <a:pt x="8665" y="9358"/>
                  </a:lnTo>
                  <a:cubicBezTo>
                    <a:pt x="8618" y="9326"/>
                    <a:pt x="8554" y="9310"/>
                    <a:pt x="8488" y="9310"/>
                  </a:cubicBezTo>
                  <a:cubicBezTo>
                    <a:pt x="8421" y="9310"/>
                    <a:pt x="8350" y="9326"/>
                    <a:pt x="8287" y="9358"/>
                  </a:cubicBezTo>
                  <a:cubicBezTo>
                    <a:pt x="7814" y="9673"/>
                    <a:pt x="7342" y="9893"/>
                    <a:pt x="6774" y="9988"/>
                  </a:cubicBezTo>
                  <a:cubicBezTo>
                    <a:pt x="6617" y="10051"/>
                    <a:pt x="6554" y="10145"/>
                    <a:pt x="6522" y="10271"/>
                  </a:cubicBezTo>
                  <a:lnTo>
                    <a:pt x="6365" y="11153"/>
                  </a:lnTo>
                  <a:lnTo>
                    <a:pt x="5577" y="11153"/>
                  </a:lnTo>
                  <a:lnTo>
                    <a:pt x="5420" y="10271"/>
                  </a:lnTo>
                  <a:cubicBezTo>
                    <a:pt x="5357" y="10114"/>
                    <a:pt x="5294" y="10051"/>
                    <a:pt x="5136" y="9988"/>
                  </a:cubicBezTo>
                  <a:cubicBezTo>
                    <a:pt x="4569" y="9893"/>
                    <a:pt x="4097" y="9673"/>
                    <a:pt x="3624" y="9358"/>
                  </a:cubicBezTo>
                  <a:cubicBezTo>
                    <a:pt x="3561" y="9326"/>
                    <a:pt x="3498" y="9310"/>
                    <a:pt x="3435" y="9310"/>
                  </a:cubicBezTo>
                  <a:cubicBezTo>
                    <a:pt x="3372" y="9310"/>
                    <a:pt x="3309" y="9326"/>
                    <a:pt x="3246" y="9358"/>
                  </a:cubicBezTo>
                  <a:lnTo>
                    <a:pt x="2521" y="9893"/>
                  </a:lnTo>
                  <a:lnTo>
                    <a:pt x="1986" y="9326"/>
                  </a:lnTo>
                  <a:lnTo>
                    <a:pt x="2490" y="8633"/>
                  </a:lnTo>
                  <a:cubicBezTo>
                    <a:pt x="2584" y="8507"/>
                    <a:pt x="2584" y="8350"/>
                    <a:pt x="2490" y="8224"/>
                  </a:cubicBezTo>
                  <a:cubicBezTo>
                    <a:pt x="2175" y="7751"/>
                    <a:pt x="1986" y="7278"/>
                    <a:pt x="1860" y="6743"/>
                  </a:cubicBezTo>
                  <a:cubicBezTo>
                    <a:pt x="1828" y="6585"/>
                    <a:pt x="1702" y="6491"/>
                    <a:pt x="1576" y="6459"/>
                  </a:cubicBezTo>
                  <a:lnTo>
                    <a:pt x="726" y="6302"/>
                  </a:lnTo>
                  <a:lnTo>
                    <a:pt x="726" y="5514"/>
                  </a:lnTo>
                  <a:lnTo>
                    <a:pt x="1576" y="5357"/>
                  </a:lnTo>
                  <a:cubicBezTo>
                    <a:pt x="1734" y="5325"/>
                    <a:pt x="1828" y="5231"/>
                    <a:pt x="1860" y="5073"/>
                  </a:cubicBezTo>
                  <a:cubicBezTo>
                    <a:pt x="1986" y="4506"/>
                    <a:pt x="2175" y="4065"/>
                    <a:pt x="2490" y="3592"/>
                  </a:cubicBezTo>
                  <a:cubicBezTo>
                    <a:pt x="2584" y="3466"/>
                    <a:pt x="2584" y="3309"/>
                    <a:pt x="2490" y="3183"/>
                  </a:cubicBezTo>
                  <a:lnTo>
                    <a:pt x="1986" y="2490"/>
                  </a:lnTo>
                  <a:lnTo>
                    <a:pt x="2521" y="1923"/>
                  </a:lnTo>
                  <a:lnTo>
                    <a:pt x="3246" y="2427"/>
                  </a:lnTo>
                  <a:cubicBezTo>
                    <a:pt x="3309" y="2474"/>
                    <a:pt x="3372" y="2498"/>
                    <a:pt x="3435" y="2498"/>
                  </a:cubicBezTo>
                  <a:cubicBezTo>
                    <a:pt x="3498" y="2498"/>
                    <a:pt x="3561" y="2474"/>
                    <a:pt x="3624" y="2427"/>
                  </a:cubicBezTo>
                  <a:cubicBezTo>
                    <a:pt x="4097" y="2112"/>
                    <a:pt x="4569" y="1923"/>
                    <a:pt x="5136" y="1797"/>
                  </a:cubicBezTo>
                  <a:cubicBezTo>
                    <a:pt x="5294" y="1765"/>
                    <a:pt x="5357" y="1639"/>
                    <a:pt x="5420" y="1513"/>
                  </a:cubicBezTo>
                  <a:lnTo>
                    <a:pt x="5577" y="662"/>
                  </a:lnTo>
                  <a:close/>
                  <a:moveTo>
                    <a:pt x="5262" y="1"/>
                  </a:moveTo>
                  <a:cubicBezTo>
                    <a:pt x="5073" y="1"/>
                    <a:pt x="4916" y="127"/>
                    <a:pt x="4884" y="284"/>
                  </a:cubicBezTo>
                  <a:lnTo>
                    <a:pt x="4727" y="1166"/>
                  </a:lnTo>
                  <a:cubicBezTo>
                    <a:pt x="4254" y="1292"/>
                    <a:pt x="3813" y="1481"/>
                    <a:pt x="3435" y="1734"/>
                  </a:cubicBezTo>
                  <a:lnTo>
                    <a:pt x="2679" y="1229"/>
                  </a:lnTo>
                  <a:cubicBezTo>
                    <a:pt x="2610" y="1174"/>
                    <a:pt x="2541" y="1149"/>
                    <a:pt x="2474" y="1149"/>
                  </a:cubicBezTo>
                  <a:cubicBezTo>
                    <a:pt x="2389" y="1149"/>
                    <a:pt x="2309" y="1190"/>
                    <a:pt x="2238" y="1261"/>
                  </a:cubicBezTo>
                  <a:lnTo>
                    <a:pt x="1261" y="2238"/>
                  </a:lnTo>
                  <a:cubicBezTo>
                    <a:pt x="1135" y="2364"/>
                    <a:pt x="1135" y="2553"/>
                    <a:pt x="1230" y="2679"/>
                  </a:cubicBezTo>
                  <a:lnTo>
                    <a:pt x="1734" y="3435"/>
                  </a:lnTo>
                  <a:cubicBezTo>
                    <a:pt x="1513" y="3813"/>
                    <a:pt x="1324" y="4254"/>
                    <a:pt x="1198" y="4726"/>
                  </a:cubicBezTo>
                  <a:lnTo>
                    <a:pt x="284" y="4884"/>
                  </a:lnTo>
                  <a:cubicBezTo>
                    <a:pt x="127" y="4915"/>
                    <a:pt x="1" y="5042"/>
                    <a:pt x="1" y="5231"/>
                  </a:cubicBezTo>
                  <a:lnTo>
                    <a:pt x="1" y="6617"/>
                  </a:lnTo>
                  <a:cubicBezTo>
                    <a:pt x="64" y="6774"/>
                    <a:pt x="158" y="6932"/>
                    <a:pt x="316" y="6963"/>
                  </a:cubicBezTo>
                  <a:lnTo>
                    <a:pt x="1230" y="7121"/>
                  </a:lnTo>
                  <a:cubicBezTo>
                    <a:pt x="1356" y="7593"/>
                    <a:pt x="1545" y="8034"/>
                    <a:pt x="1797" y="8413"/>
                  </a:cubicBezTo>
                  <a:lnTo>
                    <a:pt x="1261" y="9169"/>
                  </a:lnTo>
                  <a:cubicBezTo>
                    <a:pt x="1167" y="9295"/>
                    <a:pt x="1198" y="9484"/>
                    <a:pt x="1324" y="9610"/>
                  </a:cubicBezTo>
                  <a:lnTo>
                    <a:pt x="2301" y="10586"/>
                  </a:lnTo>
                  <a:cubicBezTo>
                    <a:pt x="2368" y="10654"/>
                    <a:pt x="2454" y="10685"/>
                    <a:pt x="2533" y="10685"/>
                  </a:cubicBezTo>
                  <a:cubicBezTo>
                    <a:pt x="2602" y="10685"/>
                    <a:pt x="2666" y="10662"/>
                    <a:pt x="2710" y="10618"/>
                  </a:cubicBezTo>
                  <a:lnTo>
                    <a:pt x="3466" y="10114"/>
                  </a:lnTo>
                  <a:cubicBezTo>
                    <a:pt x="3876" y="10366"/>
                    <a:pt x="4286" y="10555"/>
                    <a:pt x="4790" y="10681"/>
                  </a:cubicBezTo>
                  <a:lnTo>
                    <a:pt x="4947" y="11563"/>
                  </a:lnTo>
                  <a:cubicBezTo>
                    <a:pt x="4979" y="11721"/>
                    <a:pt x="5105" y="11847"/>
                    <a:pt x="5294" y="11847"/>
                  </a:cubicBezTo>
                  <a:lnTo>
                    <a:pt x="6680" y="11847"/>
                  </a:lnTo>
                  <a:cubicBezTo>
                    <a:pt x="6837" y="11847"/>
                    <a:pt x="6995" y="11721"/>
                    <a:pt x="7027" y="11563"/>
                  </a:cubicBezTo>
                  <a:lnTo>
                    <a:pt x="7184" y="10681"/>
                  </a:lnTo>
                  <a:cubicBezTo>
                    <a:pt x="7657" y="10555"/>
                    <a:pt x="8098" y="10366"/>
                    <a:pt x="8476" y="10114"/>
                  </a:cubicBezTo>
                  <a:lnTo>
                    <a:pt x="9232" y="10618"/>
                  </a:lnTo>
                  <a:cubicBezTo>
                    <a:pt x="9301" y="10673"/>
                    <a:pt x="9370" y="10698"/>
                    <a:pt x="9436" y="10698"/>
                  </a:cubicBezTo>
                  <a:cubicBezTo>
                    <a:pt x="9521" y="10698"/>
                    <a:pt x="9602" y="10657"/>
                    <a:pt x="9673" y="10586"/>
                  </a:cubicBezTo>
                  <a:lnTo>
                    <a:pt x="10650" y="9610"/>
                  </a:lnTo>
                  <a:cubicBezTo>
                    <a:pt x="10776" y="9484"/>
                    <a:pt x="10776" y="9295"/>
                    <a:pt x="10681" y="9169"/>
                  </a:cubicBezTo>
                  <a:lnTo>
                    <a:pt x="10177" y="8413"/>
                  </a:lnTo>
                  <a:cubicBezTo>
                    <a:pt x="10398" y="8034"/>
                    <a:pt x="10618" y="7593"/>
                    <a:pt x="10713" y="7121"/>
                  </a:cubicBezTo>
                  <a:lnTo>
                    <a:pt x="11626" y="6963"/>
                  </a:lnTo>
                  <a:cubicBezTo>
                    <a:pt x="11784" y="6932"/>
                    <a:pt x="11910" y="6806"/>
                    <a:pt x="11910" y="6617"/>
                  </a:cubicBezTo>
                  <a:lnTo>
                    <a:pt x="11910" y="5231"/>
                  </a:lnTo>
                  <a:cubicBezTo>
                    <a:pt x="11910" y="5073"/>
                    <a:pt x="11784" y="4915"/>
                    <a:pt x="11626" y="4884"/>
                  </a:cubicBezTo>
                  <a:lnTo>
                    <a:pt x="10713" y="4726"/>
                  </a:lnTo>
                  <a:cubicBezTo>
                    <a:pt x="10618" y="4254"/>
                    <a:pt x="10398" y="3813"/>
                    <a:pt x="10177" y="3403"/>
                  </a:cubicBezTo>
                  <a:lnTo>
                    <a:pt x="10681" y="2679"/>
                  </a:lnTo>
                  <a:cubicBezTo>
                    <a:pt x="10807" y="2553"/>
                    <a:pt x="10776" y="2364"/>
                    <a:pt x="10650" y="2238"/>
                  </a:cubicBezTo>
                  <a:lnTo>
                    <a:pt x="9673" y="1261"/>
                  </a:lnTo>
                  <a:cubicBezTo>
                    <a:pt x="9605" y="1193"/>
                    <a:pt x="9520" y="1162"/>
                    <a:pt x="9435" y="1162"/>
                  </a:cubicBezTo>
                  <a:cubicBezTo>
                    <a:pt x="9362" y="1162"/>
                    <a:pt x="9290" y="1186"/>
                    <a:pt x="9232" y="1229"/>
                  </a:cubicBezTo>
                  <a:lnTo>
                    <a:pt x="8476" y="1734"/>
                  </a:lnTo>
                  <a:cubicBezTo>
                    <a:pt x="8098" y="1481"/>
                    <a:pt x="7657" y="1292"/>
                    <a:pt x="7184" y="1166"/>
                  </a:cubicBezTo>
                  <a:lnTo>
                    <a:pt x="6995" y="284"/>
                  </a:lnTo>
                  <a:cubicBezTo>
                    <a:pt x="6932" y="127"/>
                    <a:pt x="6837" y="1"/>
                    <a:pt x="66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2" name="Google Shape;352;p15"/>
          <p:cNvGrpSpPr/>
          <p:nvPr/>
        </p:nvGrpSpPr>
        <p:grpSpPr>
          <a:xfrm>
            <a:off x="6624524" y="2335361"/>
            <a:ext cx="457200" cy="434335"/>
            <a:chOff x="-62890750" y="2296300"/>
            <a:chExt cx="330825" cy="317450"/>
          </a:xfrm>
        </p:grpSpPr>
        <p:sp>
          <p:nvSpPr>
            <p:cNvPr id="353" name="Google Shape;353;p15"/>
            <p:cNvSpPr/>
            <p:nvPr/>
          </p:nvSpPr>
          <p:spPr>
            <a:xfrm>
              <a:off x="-62890750" y="2296300"/>
              <a:ext cx="313500" cy="195375"/>
            </a:xfrm>
            <a:custGeom>
              <a:rect b="b" l="l" r="r" t="t"/>
              <a:pathLst>
                <a:path extrusionOk="0" h="7815" w="12540">
                  <a:moveTo>
                    <a:pt x="11437" y="2080"/>
                  </a:moveTo>
                  <a:lnTo>
                    <a:pt x="11658" y="2931"/>
                  </a:lnTo>
                  <a:lnTo>
                    <a:pt x="10776" y="2742"/>
                  </a:lnTo>
                  <a:lnTo>
                    <a:pt x="11437" y="2080"/>
                  </a:lnTo>
                  <a:close/>
                  <a:moveTo>
                    <a:pt x="6617" y="1"/>
                  </a:moveTo>
                  <a:cubicBezTo>
                    <a:pt x="4916" y="1"/>
                    <a:pt x="3340" y="662"/>
                    <a:pt x="2112" y="1828"/>
                  </a:cubicBezTo>
                  <a:cubicBezTo>
                    <a:pt x="663" y="3277"/>
                    <a:pt x="1" y="5420"/>
                    <a:pt x="379" y="7467"/>
                  </a:cubicBezTo>
                  <a:cubicBezTo>
                    <a:pt x="442" y="7656"/>
                    <a:pt x="568" y="7814"/>
                    <a:pt x="789" y="7814"/>
                  </a:cubicBezTo>
                  <a:lnTo>
                    <a:pt x="852" y="7814"/>
                  </a:lnTo>
                  <a:cubicBezTo>
                    <a:pt x="1104" y="7783"/>
                    <a:pt x="1198" y="7562"/>
                    <a:pt x="1167" y="7341"/>
                  </a:cubicBezTo>
                  <a:cubicBezTo>
                    <a:pt x="852" y="5577"/>
                    <a:pt x="1419" y="3718"/>
                    <a:pt x="2710" y="2458"/>
                  </a:cubicBezTo>
                  <a:cubicBezTo>
                    <a:pt x="3719" y="1450"/>
                    <a:pt x="5136" y="851"/>
                    <a:pt x="6617" y="851"/>
                  </a:cubicBezTo>
                  <a:cubicBezTo>
                    <a:pt x="7940" y="851"/>
                    <a:pt x="9200" y="1324"/>
                    <a:pt x="10177" y="2206"/>
                  </a:cubicBezTo>
                  <a:lnTo>
                    <a:pt x="9610" y="2773"/>
                  </a:lnTo>
                  <a:cubicBezTo>
                    <a:pt x="9484" y="2899"/>
                    <a:pt x="9452" y="3057"/>
                    <a:pt x="9484" y="3183"/>
                  </a:cubicBezTo>
                  <a:cubicBezTo>
                    <a:pt x="9515" y="3340"/>
                    <a:pt x="9641" y="3403"/>
                    <a:pt x="9799" y="3466"/>
                  </a:cubicBezTo>
                  <a:lnTo>
                    <a:pt x="12036" y="3939"/>
                  </a:lnTo>
                  <a:lnTo>
                    <a:pt x="12130" y="3939"/>
                  </a:lnTo>
                  <a:cubicBezTo>
                    <a:pt x="12225" y="3939"/>
                    <a:pt x="12319" y="3876"/>
                    <a:pt x="12382" y="3813"/>
                  </a:cubicBezTo>
                  <a:cubicBezTo>
                    <a:pt x="12508" y="3687"/>
                    <a:pt x="12540" y="3561"/>
                    <a:pt x="12508" y="3403"/>
                  </a:cubicBezTo>
                  <a:lnTo>
                    <a:pt x="12036" y="1167"/>
                  </a:lnTo>
                  <a:cubicBezTo>
                    <a:pt x="12004" y="1009"/>
                    <a:pt x="11878" y="883"/>
                    <a:pt x="11752" y="851"/>
                  </a:cubicBezTo>
                  <a:cubicBezTo>
                    <a:pt x="11715" y="844"/>
                    <a:pt x="11678" y="840"/>
                    <a:pt x="11642" y="840"/>
                  </a:cubicBezTo>
                  <a:cubicBezTo>
                    <a:pt x="11526" y="840"/>
                    <a:pt x="11422" y="881"/>
                    <a:pt x="11374" y="977"/>
                  </a:cubicBezTo>
                  <a:lnTo>
                    <a:pt x="10776" y="1576"/>
                  </a:lnTo>
                  <a:cubicBezTo>
                    <a:pt x="9641" y="536"/>
                    <a:pt x="8129" y="1"/>
                    <a:pt x="66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15"/>
            <p:cNvSpPr/>
            <p:nvPr/>
          </p:nvSpPr>
          <p:spPr>
            <a:xfrm>
              <a:off x="-62874975" y="2417475"/>
              <a:ext cx="315050" cy="196275"/>
            </a:xfrm>
            <a:custGeom>
              <a:rect b="b" l="l" r="r" t="t"/>
              <a:pathLst>
                <a:path extrusionOk="0" h="7851" w="12602">
                  <a:moveTo>
                    <a:pt x="977" y="4857"/>
                  </a:moveTo>
                  <a:lnTo>
                    <a:pt x="1827" y="5078"/>
                  </a:lnTo>
                  <a:lnTo>
                    <a:pt x="1166" y="5739"/>
                  </a:lnTo>
                  <a:lnTo>
                    <a:pt x="977" y="4857"/>
                  </a:lnTo>
                  <a:close/>
                  <a:moveTo>
                    <a:pt x="11779" y="1"/>
                  </a:moveTo>
                  <a:cubicBezTo>
                    <a:pt x="11759" y="1"/>
                    <a:pt x="11739" y="2"/>
                    <a:pt x="11720" y="6"/>
                  </a:cubicBezTo>
                  <a:cubicBezTo>
                    <a:pt x="11499" y="69"/>
                    <a:pt x="11373" y="289"/>
                    <a:pt x="11405" y="478"/>
                  </a:cubicBezTo>
                  <a:cubicBezTo>
                    <a:pt x="11720" y="2274"/>
                    <a:pt x="11184" y="4101"/>
                    <a:pt x="9861" y="5361"/>
                  </a:cubicBezTo>
                  <a:cubicBezTo>
                    <a:pt x="8853" y="6401"/>
                    <a:pt x="7435" y="7000"/>
                    <a:pt x="5986" y="7000"/>
                  </a:cubicBezTo>
                  <a:cubicBezTo>
                    <a:pt x="4631" y="7000"/>
                    <a:pt x="3371" y="6527"/>
                    <a:pt x="2394" y="5645"/>
                  </a:cubicBezTo>
                  <a:lnTo>
                    <a:pt x="2993" y="5046"/>
                  </a:lnTo>
                  <a:cubicBezTo>
                    <a:pt x="3088" y="4952"/>
                    <a:pt x="3151" y="4794"/>
                    <a:pt x="3088" y="4668"/>
                  </a:cubicBezTo>
                  <a:cubicBezTo>
                    <a:pt x="3056" y="4511"/>
                    <a:pt x="2962" y="4416"/>
                    <a:pt x="2772" y="4385"/>
                  </a:cubicBezTo>
                  <a:lnTo>
                    <a:pt x="536" y="3912"/>
                  </a:lnTo>
                  <a:cubicBezTo>
                    <a:pt x="506" y="3905"/>
                    <a:pt x="476" y="3901"/>
                    <a:pt x="446" y="3901"/>
                  </a:cubicBezTo>
                  <a:cubicBezTo>
                    <a:pt x="350" y="3901"/>
                    <a:pt x="254" y="3942"/>
                    <a:pt x="158" y="4038"/>
                  </a:cubicBezTo>
                  <a:cubicBezTo>
                    <a:pt x="32" y="4164"/>
                    <a:pt x="0" y="4290"/>
                    <a:pt x="32" y="4448"/>
                  </a:cubicBezTo>
                  <a:lnTo>
                    <a:pt x="504" y="6685"/>
                  </a:lnTo>
                  <a:cubicBezTo>
                    <a:pt x="536" y="6842"/>
                    <a:pt x="662" y="6937"/>
                    <a:pt x="788" y="7000"/>
                  </a:cubicBezTo>
                  <a:lnTo>
                    <a:pt x="882" y="7000"/>
                  </a:lnTo>
                  <a:cubicBezTo>
                    <a:pt x="1008" y="7000"/>
                    <a:pt x="1103" y="6968"/>
                    <a:pt x="1166" y="6874"/>
                  </a:cubicBezTo>
                  <a:lnTo>
                    <a:pt x="1764" y="6275"/>
                  </a:lnTo>
                  <a:cubicBezTo>
                    <a:pt x="2899" y="7315"/>
                    <a:pt x="4411" y="7850"/>
                    <a:pt x="5923" y="7850"/>
                  </a:cubicBezTo>
                  <a:cubicBezTo>
                    <a:pt x="7624" y="7850"/>
                    <a:pt x="9200" y="7189"/>
                    <a:pt x="10428" y="6023"/>
                  </a:cubicBezTo>
                  <a:cubicBezTo>
                    <a:pt x="11909" y="4511"/>
                    <a:pt x="12602" y="2400"/>
                    <a:pt x="12192" y="321"/>
                  </a:cubicBezTo>
                  <a:cubicBezTo>
                    <a:pt x="12164" y="123"/>
                    <a:pt x="11958" y="1"/>
                    <a:pt x="11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15"/>
            <p:cNvSpPr/>
            <p:nvPr/>
          </p:nvSpPr>
          <p:spPr>
            <a:xfrm>
              <a:off x="-62822225" y="2357750"/>
              <a:ext cx="193000" cy="192975"/>
            </a:xfrm>
            <a:custGeom>
              <a:rect b="b" l="l" r="r" t="t"/>
              <a:pathLst>
                <a:path extrusionOk="0" h="7719" w="7720">
                  <a:moveTo>
                    <a:pt x="2238" y="1323"/>
                  </a:moveTo>
                  <a:lnTo>
                    <a:pt x="2238" y="1323"/>
                  </a:lnTo>
                  <a:cubicBezTo>
                    <a:pt x="2143" y="1544"/>
                    <a:pt x="2049" y="1827"/>
                    <a:pt x="1986" y="2111"/>
                  </a:cubicBezTo>
                  <a:lnTo>
                    <a:pt x="1419" y="2111"/>
                  </a:lnTo>
                  <a:cubicBezTo>
                    <a:pt x="1671" y="1796"/>
                    <a:pt x="1923" y="1512"/>
                    <a:pt x="2238" y="1323"/>
                  </a:cubicBezTo>
                  <a:close/>
                  <a:moveTo>
                    <a:pt x="3466" y="1040"/>
                  </a:moveTo>
                  <a:lnTo>
                    <a:pt x="3466" y="2111"/>
                  </a:lnTo>
                  <a:lnTo>
                    <a:pt x="2836" y="2111"/>
                  </a:lnTo>
                  <a:cubicBezTo>
                    <a:pt x="2994" y="1575"/>
                    <a:pt x="3246" y="1229"/>
                    <a:pt x="3466" y="1040"/>
                  </a:cubicBezTo>
                  <a:close/>
                  <a:moveTo>
                    <a:pt x="4254" y="1040"/>
                  </a:moveTo>
                  <a:cubicBezTo>
                    <a:pt x="4538" y="1229"/>
                    <a:pt x="4727" y="1575"/>
                    <a:pt x="4884" y="2111"/>
                  </a:cubicBezTo>
                  <a:lnTo>
                    <a:pt x="4254" y="2111"/>
                  </a:lnTo>
                  <a:lnTo>
                    <a:pt x="4254" y="1040"/>
                  </a:lnTo>
                  <a:close/>
                  <a:moveTo>
                    <a:pt x="5483" y="1323"/>
                  </a:moveTo>
                  <a:lnTo>
                    <a:pt x="5483" y="1323"/>
                  </a:lnTo>
                  <a:cubicBezTo>
                    <a:pt x="5798" y="1512"/>
                    <a:pt x="6081" y="1796"/>
                    <a:pt x="6302" y="2111"/>
                  </a:cubicBezTo>
                  <a:lnTo>
                    <a:pt x="5766" y="2111"/>
                  </a:lnTo>
                  <a:cubicBezTo>
                    <a:pt x="5672" y="1827"/>
                    <a:pt x="5609" y="1544"/>
                    <a:pt x="5483" y="1323"/>
                  </a:cubicBezTo>
                  <a:close/>
                  <a:moveTo>
                    <a:pt x="1765" y="2930"/>
                  </a:moveTo>
                  <a:cubicBezTo>
                    <a:pt x="1734" y="3245"/>
                    <a:pt x="1702" y="3560"/>
                    <a:pt x="1702" y="3875"/>
                  </a:cubicBezTo>
                  <a:cubicBezTo>
                    <a:pt x="1702" y="4190"/>
                    <a:pt x="1734" y="4537"/>
                    <a:pt x="1765" y="4820"/>
                  </a:cubicBezTo>
                  <a:lnTo>
                    <a:pt x="978" y="4820"/>
                  </a:lnTo>
                  <a:cubicBezTo>
                    <a:pt x="883" y="4537"/>
                    <a:pt x="820" y="4222"/>
                    <a:pt x="820" y="3875"/>
                  </a:cubicBezTo>
                  <a:cubicBezTo>
                    <a:pt x="820" y="3497"/>
                    <a:pt x="883" y="3214"/>
                    <a:pt x="978" y="2930"/>
                  </a:cubicBezTo>
                  <a:close/>
                  <a:moveTo>
                    <a:pt x="5136" y="2930"/>
                  </a:moveTo>
                  <a:cubicBezTo>
                    <a:pt x="5168" y="3245"/>
                    <a:pt x="5199" y="3560"/>
                    <a:pt x="5199" y="3875"/>
                  </a:cubicBezTo>
                  <a:cubicBezTo>
                    <a:pt x="5199" y="4222"/>
                    <a:pt x="5168" y="4537"/>
                    <a:pt x="5136" y="4820"/>
                  </a:cubicBezTo>
                  <a:lnTo>
                    <a:pt x="4286" y="4820"/>
                  </a:lnTo>
                  <a:lnTo>
                    <a:pt x="4286" y="2930"/>
                  </a:lnTo>
                  <a:close/>
                  <a:moveTo>
                    <a:pt x="6743" y="2930"/>
                  </a:moveTo>
                  <a:cubicBezTo>
                    <a:pt x="6869" y="3245"/>
                    <a:pt x="6900" y="3560"/>
                    <a:pt x="6900" y="3875"/>
                  </a:cubicBezTo>
                  <a:cubicBezTo>
                    <a:pt x="6900" y="4222"/>
                    <a:pt x="6869" y="4537"/>
                    <a:pt x="6743" y="4820"/>
                  </a:cubicBezTo>
                  <a:lnTo>
                    <a:pt x="5955" y="4820"/>
                  </a:lnTo>
                  <a:cubicBezTo>
                    <a:pt x="5987" y="4505"/>
                    <a:pt x="6018" y="4190"/>
                    <a:pt x="6018" y="3875"/>
                  </a:cubicBezTo>
                  <a:cubicBezTo>
                    <a:pt x="6018" y="3560"/>
                    <a:pt x="5987" y="3214"/>
                    <a:pt x="5955" y="2930"/>
                  </a:cubicBezTo>
                  <a:close/>
                  <a:moveTo>
                    <a:pt x="3466" y="2930"/>
                  </a:moveTo>
                  <a:lnTo>
                    <a:pt x="3466" y="4852"/>
                  </a:lnTo>
                  <a:lnTo>
                    <a:pt x="2647" y="4852"/>
                  </a:lnTo>
                  <a:cubicBezTo>
                    <a:pt x="2553" y="4537"/>
                    <a:pt x="2553" y="4222"/>
                    <a:pt x="2553" y="3875"/>
                  </a:cubicBezTo>
                  <a:cubicBezTo>
                    <a:pt x="2553" y="3497"/>
                    <a:pt x="2616" y="3214"/>
                    <a:pt x="2647" y="2930"/>
                  </a:cubicBezTo>
                  <a:close/>
                  <a:moveTo>
                    <a:pt x="6302" y="5640"/>
                  </a:moveTo>
                  <a:cubicBezTo>
                    <a:pt x="6081" y="5955"/>
                    <a:pt x="5798" y="6238"/>
                    <a:pt x="5483" y="6427"/>
                  </a:cubicBezTo>
                  <a:cubicBezTo>
                    <a:pt x="5609" y="6207"/>
                    <a:pt x="5672" y="5923"/>
                    <a:pt x="5766" y="5640"/>
                  </a:cubicBezTo>
                  <a:close/>
                  <a:moveTo>
                    <a:pt x="1986" y="5671"/>
                  </a:moveTo>
                  <a:cubicBezTo>
                    <a:pt x="2049" y="5955"/>
                    <a:pt x="2143" y="6238"/>
                    <a:pt x="2238" y="6459"/>
                  </a:cubicBezTo>
                  <a:cubicBezTo>
                    <a:pt x="1923" y="6238"/>
                    <a:pt x="1671" y="5955"/>
                    <a:pt x="1419" y="5671"/>
                  </a:cubicBezTo>
                  <a:close/>
                  <a:moveTo>
                    <a:pt x="4916" y="5640"/>
                  </a:moveTo>
                  <a:cubicBezTo>
                    <a:pt x="4727" y="6144"/>
                    <a:pt x="4538" y="6522"/>
                    <a:pt x="4286" y="6711"/>
                  </a:cubicBezTo>
                  <a:lnTo>
                    <a:pt x="4286" y="5640"/>
                  </a:lnTo>
                  <a:close/>
                  <a:moveTo>
                    <a:pt x="3466" y="5671"/>
                  </a:moveTo>
                  <a:lnTo>
                    <a:pt x="3466" y="6742"/>
                  </a:lnTo>
                  <a:cubicBezTo>
                    <a:pt x="3246" y="6553"/>
                    <a:pt x="2994" y="6144"/>
                    <a:pt x="2836" y="5671"/>
                  </a:cubicBezTo>
                  <a:close/>
                  <a:moveTo>
                    <a:pt x="3876" y="0"/>
                  </a:moveTo>
                  <a:cubicBezTo>
                    <a:pt x="2301" y="0"/>
                    <a:pt x="915" y="945"/>
                    <a:pt x="316" y="2332"/>
                  </a:cubicBezTo>
                  <a:cubicBezTo>
                    <a:pt x="127" y="2804"/>
                    <a:pt x="1" y="3308"/>
                    <a:pt x="1" y="3875"/>
                  </a:cubicBezTo>
                  <a:cubicBezTo>
                    <a:pt x="1" y="4411"/>
                    <a:pt x="127" y="4946"/>
                    <a:pt x="316" y="5419"/>
                  </a:cubicBezTo>
                  <a:cubicBezTo>
                    <a:pt x="915" y="6774"/>
                    <a:pt x="2301" y="7719"/>
                    <a:pt x="3876" y="7719"/>
                  </a:cubicBezTo>
                  <a:cubicBezTo>
                    <a:pt x="5451" y="7719"/>
                    <a:pt x="6806" y="6774"/>
                    <a:pt x="7405" y="5419"/>
                  </a:cubicBezTo>
                  <a:cubicBezTo>
                    <a:pt x="7594" y="4946"/>
                    <a:pt x="7720" y="4411"/>
                    <a:pt x="7720" y="3875"/>
                  </a:cubicBezTo>
                  <a:cubicBezTo>
                    <a:pt x="7720" y="3308"/>
                    <a:pt x="7594" y="2804"/>
                    <a:pt x="7405" y="2332"/>
                  </a:cubicBezTo>
                  <a:cubicBezTo>
                    <a:pt x="6806" y="945"/>
                    <a:pt x="5451" y="0"/>
                    <a:pt x="3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6" name="Google Shape;35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1dfb5de8e_0_142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Implementación (PennyLane)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2" name="Google Shape;362;g3f1dfb5de8e_0_142"/>
          <p:cNvSpPr/>
          <p:nvPr/>
        </p:nvSpPr>
        <p:spPr>
          <a:xfrm>
            <a:off x="457200" y="2032225"/>
            <a:ext cx="8229600" cy="107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3f1dfb5de8e_0_142"/>
          <p:cNvSpPr/>
          <p:nvPr/>
        </p:nvSpPr>
        <p:spPr>
          <a:xfrm>
            <a:off x="2371875" y="1875300"/>
            <a:ext cx="1392900" cy="1392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3f1dfb5de8e_0_142"/>
          <p:cNvSpPr/>
          <p:nvPr/>
        </p:nvSpPr>
        <p:spPr>
          <a:xfrm>
            <a:off x="5668500" y="1875300"/>
            <a:ext cx="1392900" cy="1392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3f1dfb5de8e_0_142"/>
          <p:cNvSpPr txBox="1"/>
          <p:nvPr/>
        </p:nvSpPr>
        <p:spPr>
          <a:xfrm>
            <a:off x="2047775" y="1131450"/>
            <a:ext cx="20409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Etapa 4</a:t>
            </a:r>
            <a:endParaRPr b="1" i="0" sz="1600" u="none" cap="none" strike="noStrike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66" name="Google Shape;366;g3f1dfb5de8e_0_142"/>
          <p:cNvSpPr txBox="1"/>
          <p:nvPr/>
        </p:nvSpPr>
        <p:spPr>
          <a:xfrm>
            <a:off x="2193225" y="3562350"/>
            <a:ext cx="17502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Topología del Ansatz (2 qubits).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g3f1dfb5de8e_0_142"/>
          <p:cNvSpPr txBox="1"/>
          <p:nvPr/>
        </p:nvSpPr>
        <p:spPr>
          <a:xfrm>
            <a:off x="5565000" y="3562350"/>
            <a:ext cx="15999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Entrenamiento y convergencia energética.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g3f1dfb5de8e_0_142"/>
          <p:cNvSpPr txBox="1"/>
          <p:nvPr/>
        </p:nvSpPr>
        <p:spPr>
          <a:xfrm>
            <a:off x="5344500" y="1131450"/>
            <a:ext cx="20409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Etapa 5</a:t>
            </a:r>
            <a:endParaRPr b="1" i="0" sz="1600" u="none" cap="none" strike="noStrike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369" name="Google Shape;369;g3f1dfb5de8e_0_142"/>
          <p:cNvGrpSpPr/>
          <p:nvPr/>
        </p:nvGrpSpPr>
        <p:grpSpPr>
          <a:xfrm>
            <a:off x="2835769" y="2335685"/>
            <a:ext cx="457198" cy="472455"/>
            <a:chOff x="-65129950" y="2646800"/>
            <a:chExt cx="311125" cy="317425"/>
          </a:xfrm>
        </p:grpSpPr>
        <p:sp>
          <p:nvSpPr>
            <p:cNvPr id="370" name="Google Shape;370;g3f1dfb5de8e_0_142"/>
            <p:cNvSpPr/>
            <p:nvPr/>
          </p:nvSpPr>
          <p:spPr>
            <a:xfrm>
              <a:off x="-65129950" y="2646800"/>
              <a:ext cx="311125" cy="317425"/>
            </a:xfrm>
            <a:custGeom>
              <a:rect b="b" l="l" r="r" t="t"/>
              <a:pathLst>
                <a:path extrusionOk="0" h="12697" w="12445">
                  <a:moveTo>
                    <a:pt x="6648" y="851"/>
                  </a:moveTo>
                  <a:lnTo>
                    <a:pt x="6648" y="1954"/>
                  </a:lnTo>
                  <a:lnTo>
                    <a:pt x="5860" y="1954"/>
                  </a:lnTo>
                  <a:lnTo>
                    <a:pt x="5860" y="851"/>
                  </a:lnTo>
                  <a:close/>
                  <a:moveTo>
                    <a:pt x="1261" y="1954"/>
                  </a:moveTo>
                  <a:cubicBezTo>
                    <a:pt x="1355" y="1954"/>
                    <a:pt x="1450" y="1985"/>
                    <a:pt x="1544" y="2080"/>
                  </a:cubicBezTo>
                  <a:cubicBezTo>
                    <a:pt x="1733" y="2237"/>
                    <a:pt x="1733" y="2521"/>
                    <a:pt x="1576" y="2678"/>
                  </a:cubicBezTo>
                  <a:cubicBezTo>
                    <a:pt x="1497" y="2757"/>
                    <a:pt x="1387" y="2797"/>
                    <a:pt x="1276" y="2797"/>
                  </a:cubicBezTo>
                  <a:cubicBezTo>
                    <a:pt x="1166" y="2797"/>
                    <a:pt x="1056" y="2757"/>
                    <a:pt x="977" y="2678"/>
                  </a:cubicBezTo>
                  <a:cubicBezTo>
                    <a:pt x="819" y="2521"/>
                    <a:pt x="819" y="2237"/>
                    <a:pt x="977" y="2080"/>
                  </a:cubicBezTo>
                  <a:cubicBezTo>
                    <a:pt x="1072" y="1985"/>
                    <a:pt x="1198" y="1954"/>
                    <a:pt x="1261" y="1954"/>
                  </a:cubicBezTo>
                  <a:close/>
                  <a:moveTo>
                    <a:pt x="11216" y="1954"/>
                  </a:moveTo>
                  <a:cubicBezTo>
                    <a:pt x="11468" y="1954"/>
                    <a:pt x="11626" y="2143"/>
                    <a:pt x="11626" y="2395"/>
                  </a:cubicBezTo>
                  <a:cubicBezTo>
                    <a:pt x="11626" y="2615"/>
                    <a:pt x="11437" y="2836"/>
                    <a:pt x="11216" y="2836"/>
                  </a:cubicBezTo>
                  <a:cubicBezTo>
                    <a:pt x="11027" y="2836"/>
                    <a:pt x="10807" y="2615"/>
                    <a:pt x="10807" y="2395"/>
                  </a:cubicBezTo>
                  <a:cubicBezTo>
                    <a:pt x="10807" y="2143"/>
                    <a:pt x="10996" y="1954"/>
                    <a:pt x="11216" y="1954"/>
                  </a:cubicBezTo>
                  <a:close/>
                  <a:moveTo>
                    <a:pt x="6270" y="2773"/>
                  </a:moveTo>
                  <a:cubicBezTo>
                    <a:pt x="8759" y="2773"/>
                    <a:pt x="10807" y="4821"/>
                    <a:pt x="10807" y="7341"/>
                  </a:cubicBezTo>
                  <a:cubicBezTo>
                    <a:pt x="10807" y="9861"/>
                    <a:pt x="8759" y="11909"/>
                    <a:pt x="6270" y="11909"/>
                  </a:cubicBezTo>
                  <a:cubicBezTo>
                    <a:pt x="3781" y="11909"/>
                    <a:pt x="1733" y="9861"/>
                    <a:pt x="1733" y="7341"/>
                  </a:cubicBezTo>
                  <a:cubicBezTo>
                    <a:pt x="1733" y="4821"/>
                    <a:pt x="3781" y="2773"/>
                    <a:pt x="6270" y="2773"/>
                  </a:cubicBezTo>
                  <a:close/>
                  <a:moveTo>
                    <a:pt x="4663" y="0"/>
                  </a:moveTo>
                  <a:cubicBezTo>
                    <a:pt x="4411" y="0"/>
                    <a:pt x="4254" y="189"/>
                    <a:pt x="4254" y="410"/>
                  </a:cubicBezTo>
                  <a:cubicBezTo>
                    <a:pt x="4254" y="662"/>
                    <a:pt x="4474" y="851"/>
                    <a:pt x="4663" y="851"/>
                  </a:cubicBezTo>
                  <a:lnTo>
                    <a:pt x="5104" y="851"/>
                  </a:lnTo>
                  <a:lnTo>
                    <a:pt x="5104" y="2111"/>
                  </a:lnTo>
                  <a:cubicBezTo>
                    <a:pt x="4254" y="2300"/>
                    <a:pt x="3466" y="2710"/>
                    <a:pt x="2836" y="3245"/>
                  </a:cubicBezTo>
                  <a:lnTo>
                    <a:pt x="2489" y="2899"/>
                  </a:lnTo>
                  <a:cubicBezTo>
                    <a:pt x="2741" y="2426"/>
                    <a:pt x="2647" y="1891"/>
                    <a:pt x="2269" y="1481"/>
                  </a:cubicBezTo>
                  <a:cubicBezTo>
                    <a:pt x="2032" y="1245"/>
                    <a:pt x="1717" y="1127"/>
                    <a:pt x="1394" y="1127"/>
                  </a:cubicBezTo>
                  <a:cubicBezTo>
                    <a:pt x="1072" y="1127"/>
                    <a:pt x="741" y="1245"/>
                    <a:pt x="473" y="1481"/>
                  </a:cubicBezTo>
                  <a:cubicBezTo>
                    <a:pt x="0" y="1954"/>
                    <a:pt x="0" y="2741"/>
                    <a:pt x="473" y="3245"/>
                  </a:cubicBezTo>
                  <a:cubicBezTo>
                    <a:pt x="725" y="3498"/>
                    <a:pt x="1040" y="3624"/>
                    <a:pt x="1355" y="3624"/>
                  </a:cubicBezTo>
                  <a:cubicBezTo>
                    <a:pt x="1544" y="3624"/>
                    <a:pt x="1702" y="3561"/>
                    <a:pt x="1891" y="3498"/>
                  </a:cubicBezTo>
                  <a:lnTo>
                    <a:pt x="2269" y="3844"/>
                  </a:lnTo>
                  <a:cubicBezTo>
                    <a:pt x="1481" y="4789"/>
                    <a:pt x="946" y="6018"/>
                    <a:pt x="946" y="7341"/>
                  </a:cubicBezTo>
                  <a:cubicBezTo>
                    <a:pt x="946" y="10303"/>
                    <a:pt x="3371" y="12697"/>
                    <a:pt x="6301" y="12697"/>
                  </a:cubicBezTo>
                  <a:cubicBezTo>
                    <a:pt x="9263" y="12697"/>
                    <a:pt x="11657" y="10303"/>
                    <a:pt x="11657" y="7341"/>
                  </a:cubicBezTo>
                  <a:cubicBezTo>
                    <a:pt x="11657" y="6018"/>
                    <a:pt x="11185" y="4789"/>
                    <a:pt x="10365" y="3844"/>
                  </a:cubicBezTo>
                  <a:lnTo>
                    <a:pt x="10712" y="3498"/>
                  </a:lnTo>
                  <a:cubicBezTo>
                    <a:pt x="10838" y="3561"/>
                    <a:pt x="11027" y="3624"/>
                    <a:pt x="11216" y="3624"/>
                  </a:cubicBezTo>
                  <a:cubicBezTo>
                    <a:pt x="11909" y="3624"/>
                    <a:pt x="12445" y="3056"/>
                    <a:pt x="12445" y="2363"/>
                  </a:cubicBezTo>
                  <a:cubicBezTo>
                    <a:pt x="12445" y="1670"/>
                    <a:pt x="11909" y="1135"/>
                    <a:pt x="11216" y="1135"/>
                  </a:cubicBezTo>
                  <a:cubicBezTo>
                    <a:pt x="10555" y="1135"/>
                    <a:pt x="10019" y="1670"/>
                    <a:pt x="10019" y="2363"/>
                  </a:cubicBezTo>
                  <a:cubicBezTo>
                    <a:pt x="10019" y="2552"/>
                    <a:pt x="10050" y="2710"/>
                    <a:pt x="10113" y="2899"/>
                  </a:cubicBezTo>
                  <a:lnTo>
                    <a:pt x="9767" y="3245"/>
                  </a:lnTo>
                  <a:cubicBezTo>
                    <a:pt x="9137" y="2710"/>
                    <a:pt x="8349" y="2300"/>
                    <a:pt x="7530" y="2111"/>
                  </a:cubicBezTo>
                  <a:lnTo>
                    <a:pt x="7530" y="851"/>
                  </a:lnTo>
                  <a:lnTo>
                    <a:pt x="7971" y="851"/>
                  </a:lnTo>
                  <a:cubicBezTo>
                    <a:pt x="8192" y="851"/>
                    <a:pt x="8349" y="662"/>
                    <a:pt x="8349" y="410"/>
                  </a:cubicBezTo>
                  <a:cubicBezTo>
                    <a:pt x="8349" y="189"/>
                    <a:pt x="8160" y="0"/>
                    <a:pt x="79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g3f1dfb5de8e_0_142"/>
            <p:cNvSpPr/>
            <p:nvPr/>
          </p:nvSpPr>
          <p:spPr>
            <a:xfrm>
              <a:off x="-65066950" y="2738175"/>
              <a:ext cx="187475" cy="185100"/>
            </a:xfrm>
            <a:custGeom>
              <a:rect b="b" l="l" r="r" t="t"/>
              <a:pathLst>
                <a:path extrusionOk="0" h="7404" w="7499">
                  <a:moveTo>
                    <a:pt x="3309" y="819"/>
                  </a:moveTo>
                  <a:lnTo>
                    <a:pt x="3309" y="3686"/>
                  </a:lnTo>
                  <a:cubicBezTo>
                    <a:pt x="3309" y="3938"/>
                    <a:pt x="3498" y="4127"/>
                    <a:pt x="3718" y="4127"/>
                  </a:cubicBezTo>
                  <a:lnTo>
                    <a:pt x="6612" y="4127"/>
                  </a:lnTo>
                  <a:cubicBezTo>
                    <a:pt x="6410" y="5529"/>
                    <a:pt x="5188" y="6585"/>
                    <a:pt x="3750" y="6585"/>
                  </a:cubicBezTo>
                  <a:cubicBezTo>
                    <a:pt x="2143" y="6585"/>
                    <a:pt x="820" y="5261"/>
                    <a:pt x="820" y="3686"/>
                  </a:cubicBezTo>
                  <a:cubicBezTo>
                    <a:pt x="820" y="2237"/>
                    <a:pt x="1891" y="1008"/>
                    <a:pt x="3309" y="819"/>
                  </a:cubicBezTo>
                  <a:close/>
                  <a:moveTo>
                    <a:pt x="3750" y="0"/>
                  </a:moveTo>
                  <a:cubicBezTo>
                    <a:pt x="1702" y="0"/>
                    <a:pt x="1" y="1638"/>
                    <a:pt x="1" y="3686"/>
                  </a:cubicBezTo>
                  <a:cubicBezTo>
                    <a:pt x="1" y="5734"/>
                    <a:pt x="1671" y="7404"/>
                    <a:pt x="3750" y="7404"/>
                  </a:cubicBezTo>
                  <a:cubicBezTo>
                    <a:pt x="5798" y="7404"/>
                    <a:pt x="7499" y="5734"/>
                    <a:pt x="7499" y="3686"/>
                  </a:cubicBezTo>
                  <a:cubicBezTo>
                    <a:pt x="7499" y="3466"/>
                    <a:pt x="7278" y="3277"/>
                    <a:pt x="7058" y="3277"/>
                  </a:cubicBezTo>
                  <a:lnTo>
                    <a:pt x="4128" y="3277"/>
                  </a:lnTo>
                  <a:lnTo>
                    <a:pt x="4128" y="378"/>
                  </a:lnTo>
                  <a:cubicBezTo>
                    <a:pt x="4128" y="158"/>
                    <a:pt x="3939" y="0"/>
                    <a:pt x="37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2" name="Google Shape;372;g3f1dfb5de8e_0_142"/>
          <p:cNvGrpSpPr/>
          <p:nvPr/>
        </p:nvGrpSpPr>
        <p:grpSpPr>
          <a:xfrm>
            <a:off x="6136353" y="2344323"/>
            <a:ext cx="457195" cy="457205"/>
            <a:chOff x="1412450" y="1954475"/>
            <a:chExt cx="297750" cy="296175"/>
          </a:xfrm>
        </p:grpSpPr>
        <p:sp>
          <p:nvSpPr>
            <p:cNvPr id="373" name="Google Shape;373;g3f1dfb5de8e_0_142"/>
            <p:cNvSpPr/>
            <p:nvPr/>
          </p:nvSpPr>
          <p:spPr>
            <a:xfrm>
              <a:off x="1483350" y="2023800"/>
              <a:ext cx="155975" cy="155975"/>
            </a:xfrm>
            <a:custGeom>
              <a:rect b="b" l="l" r="r" t="t"/>
              <a:pathLst>
                <a:path extrusionOk="0" h="6239" w="6239">
                  <a:moveTo>
                    <a:pt x="3119" y="2079"/>
                  </a:moveTo>
                  <a:cubicBezTo>
                    <a:pt x="3529" y="2079"/>
                    <a:pt x="3844" y="2395"/>
                    <a:pt x="3844" y="2773"/>
                  </a:cubicBezTo>
                  <a:cubicBezTo>
                    <a:pt x="3844" y="3182"/>
                    <a:pt x="3529" y="3497"/>
                    <a:pt x="3119" y="3497"/>
                  </a:cubicBezTo>
                  <a:cubicBezTo>
                    <a:pt x="2741" y="3497"/>
                    <a:pt x="2426" y="3182"/>
                    <a:pt x="2426" y="2773"/>
                  </a:cubicBezTo>
                  <a:cubicBezTo>
                    <a:pt x="2426" y="2395"/>
                    <a:pt x="2741" y="2079"/>
                    <a:pt x="3119" y="2079"/>
                  </a:cubicBezTo>
                  <a:close/>
                  <a:moveTo>
                    <a:pt x="3119" y="725"/>
                  </a:moveTo>
                  <a:cubicBezTo>
                    <a:pt x="4474" y="725"/>
                    <a:pt x="5577" y="1827"/>
                    <a:pt x="5577" y="3182"/>
                  </a:cubicBezTo>
                  <a:cubicBezTo>
                    <a:pt x="5577" y="3686"/>
                    <a:pt x="5388" y="4159"/>
                    <a:pt x="5136" y="4537"/>
                  </a:cubicBezTo>
                  <a:cubicBezTo>
                    <a:pt x="4884" y="4190"/>
                    <a:pt x="4537" y="3907"/>
                    <a:pt x="4191" y="3718"/>
                  </a:cubicBezTo>
                  <a:cubicBezTo>
                    <a:pt x="4411" y="3497"/>
                    <a:pt x="4537" y="3182"/>
                    <a:pt x="4537" y="2804"/>
                  </a:cubicBezTo>
                  <a:cubicBezTo>
                    <a:pt x="4537" y="2079"/>
                    <a:pt x="3907" y="1449"/>
                    <a:pt x="3151" y="1449"/>
                  </a:cubicBezTo>
                  <a:cubicBezTo>
                    <a:pt x="2426" y="1449"/>
                    <a:pt x="1796" y="2079"/>
                    <a:pt x="1796" y="2804"/>
                  </a:cubicBezTo>
                  <a:cubicBezTo>
                    <a:pt x="1796" y="3182"/>
                    <a:pt x="1891" y="3497"/>
                    <a:pt x="2143" y="3718"/>
                  </a:cubicBezTo>
                  <a:cubicBezTo>
                    <a:pt x="1733" y="3907"/>
                    <a:pt x="1418" y="4190"/>
                    <a:pt x="1198" y="4537"/>
                  </a:cubicBezTo>
                  <a:cubicBezTo>
                    <a:pt x="914" y="4159"/>
                    <a:pt x="756" y="3686"/>
                    <a:pt x="756" y="3182"/>
                  </a:cubicBezTo>
                  <a:cubicBezTo>
                    <a:pt x="662" y="1796"/>
                    <a:pt x="1796" y="725"/>
                    <a:pt x="3119" y="725"/>
                  </a:cubicBezTo>
                  <a:close/>
                  <a:moveTo>
                    <a:pt x="3119" y="4190"/>
                  </a:moveTo>
                  <a:cubicBezTo>
                    <a:pt x="3749" y="4190"/>
                    <a:pt x="4317" y="4505"/>
                    <a:pt x="4632" y="5041"/>
                  </a:cubicBezTo>
                  <a:cubicBezTo>
                    <a:pt x="4222" y="5387"/>
                    <a:pt x="3686" y="5577"/>
                    <a:pt x="3119" y="5577"/>
                  </a:cubicBezTo>
                  <a:cubicBezTo>
                    <a:pt x="2584" y="5577"/>
                    <a:pt x="2017" y="5387"/>
                    <a:pt x="1639" y="5041"/>
                  </a:cubicBezTo>
                  <a:cubicBezTo>
                    <a:pt x="1954" y="4505"/>
                    <a:pt x="2489" y="4190"/>
                    <a:pt x="3119" y="4190"/>
                  </a:cubicBezTo>
                  <a:close/>
                  <a:moveTo>
                    <a:pt x="3119" y="0"/>
                  </a:moveTo>
                  <a:cubicBezTo>
                    <a:pt x="1387" y="0"/>
                    <a:pt x="0" y="1418"/>
                    <a:pt x="0" y="3119"/>
                  </a:cubicBezTo>
                  <a:cubicBezTo>
                    <a:pt x="0" y="4852"/>
                    <a:pt x="1387" y="6238"/>
                    <a:pt x="3119" y="6238"/>
                  </a:cubicBezTo>
                  <a:cubicBezTo>
                    <a:pt x="4852" y="6238"/>
                    <a:pt x="6238" y="4820"/>
                    <a:pt x="6238" y="3119"/>
                  </a:cubicBezTo>
                  <a:cubicBezTo>
                    <a:pt x="6238" y="1386"/>
                    <a:pt x="4821" y="0"/>
                    <a:pt x="31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g3f1dfb5de8e_0_142"/>
            <p:cNvSpPr/>
            <p:nvPr/>
          </p:nvSpPr>
          <p:spPr>
            <a:xfrm>
              <a:off x="1412450" y="1954475"/>
              <a:ext cx="297750" cy="296175"/>
            </a:xfrm>
            <a:custGeom>
              <a:rect b="b" l="l" r="r" t="t"/>
              <a:pathLst>
                <a:path extrusionOk="0" h="11847" w="11910">
                  <a:moveTo>
                    <a:pt x="6365" y="662"/>
                  </a:moveTo>
                  <a:lnTo>
                    <a:pt x="6522" y="1513"/>
                  </a:lnTo>
                  <a:cubicBezTo>
                    <a:pt x="6554" y="1702"/>
                    <a:pt x="6617" y="1765"/>
                    <a:pt x="6774" y="1797"/>
                  </a:cubicBezTo>
                  <a:cubicBezTo>
                    <a:pt x="7342" y="1923"/>
                    <a:pt x="7814" y="2112"/>
                    <a:pt x="8287" y="2427"/>
                  </a:cubicBezTo>
                  <a:cubicBezTo>
                    <a:pt x="8350" y="2474"/>
                    <a:pt x="8421" y="2498"/>
                    <a:pt x="8488" y="2498"/>
                  </a:cubicBezTo>
                  <a:cubicBezTo>
                    <a:pt x="8554" y="2498"/>
                    <a:pt x="8618" y="2474"/>
                    <a:pt x="8665" y="2427"/>
                  </a:cubicBezTo>
                  <a:lnTo>
                    <a:pt x="9389" y="1923"/>
                  </a:lnTo>
                  <a:lnTo>
                    <a:pt x="9925" y="2490"/>
                  </a:lnTo>
                  <a:lnTo>
                    <a:pt x="9421" y="3183"/>
                  </a:lnTo>
                  <a:cubicBezTo>
                    <a:pt x="9358" y="3309"/>
                    <a:pt x="9358" y="3466"/>
                    <a:pt x="9421" y="3592"/>
                  </a:cubicBezTo>
                  <a:cubicBezTo>
                    <a:pt x="9736" y="4065"/>
                    <a:pt x="9925" y="4537"/>
                    <a:pt x="10051" y="5073"/>
                  </a:cubicBezTo>
                  <a:cubicBezTo>
                    <a:pt x="10082" y="5231"/>
                    <a:pt x="10209" y="5294"/>
                    <a:pt x="10335" y="5357"/>
                  </a:cubicBezTo>
                  <a:lnTo>
                    <a:pt x="11185" y="5514"/>
                  </a:lnTo>
                  <a:lnTo>
                    <a:pt x="11185" y="6302"/>
                  </a:lnTo>
                  <a:lnTo>
                    <a:pt x="10335" y="6459"/>
                  </a:lnTo>
                  <a:cubicBezTo>
                    <a:pt x="10177" y="6491"/>
                    <a:pt x="10082" y="6585"/>
                    <a:pt x="10051" y="6743"/>
                  </a:cubicBezTo>
                  <a:cubicBezTo>
                    <a:pt x="9925" y="7278"/>
                    <a:pt x="9736" y="7751"/>
                    <a:pt x="9421" y="8224"/>
                  </a:cubicBezTo>
                  <a:cubicBezTo>
                    <a:pt x="9358" y="8350"/>
                    <a:pt x="9358" y="8507"/>
                    <a:pt x="9421" y="8633"/>
                  </a:cubicBezTo>
                  <a:lnTo>
                    <a:pt x="9925" y="9326"/>
                  </a:lnTo>
                  <a:lnTo>
                    <a:pt x="9389" y="9893"/>
                  </a:lnTo>
                  <a:lnTo>
                    <a:pt x="8665" y="9358"/>
                  </a:lnTo>
                  <a:cubicBezTo>
                    <a:pt x="8618" y="9326"/>
                    <a:pt x="8554" y="9310"/>
                    <a:pt x="8488" y="9310"/>
                  </a:cubicBezTo>
                  <a:cubicBezTo>
                    <a:pt x="8421" y="9310"/>
                    <a:pt x="8350" y="9326"/>
                    <a:pt x="8287" y="9358"/>
                  </a:cubicBezTo>
                  <a:cubicBezTo>
                    <a:pt x="7814" y="9673"/>
                    <a:pt x="7342" y="9893"/>
                    <a:pt x="6774" y="9988"/>
                  </a:cubicBezTo>
                  <a:cubicBezTo>
                    <a:pt x="6617" y="10051"/>
                    <a:pt x="6554" y="10145"/>
                    <a:pt x="6522" y="10271"/>
                  </a:cubicBezTo>
                  <a:lnTo>
                    <a:pt x="6365" y="11153"/>
                  </a:lnTo>
                  <a:lnTo>
                    <a:pt x="5577" y="11153"/>
                  </a:lnTo>
                  <a:lnTo>
                    <a:pt x="5420" y="10271"/>
                  </a:lnTo>
                  <a:cubicBezTo>
                    <a:pt x="5357" y="10114"/>
                    <a:pt x="5294" y="10051"/>
                    <a:pt x="5136" y="9988"/>
                  </a:cubicBezTo>
                  <a:cubicBezTo>
                    <a:pt x="4569" y="9893"/>
                    <a:pt x="4097" y="9673"/>
                    <a:pt x="3624" y="9358"/>
                  </a:cubicBezTo>
                  <a:cubicBezTo>
                    <a:pt x="3561" y="9326"/>
                    <a:pt x="3498" y="9310"/>
                    <a:pt x="3435" y="9310"/>
                  </a:cubicBezTo>
                  <a:cubicBezTo>
                    <a:pt x="3372" y="9310"/>
                    <a:pt x="3309" y="9326"/>
                    <a:pt x="3246" y="9358"/>
                  </a:cubicBezTo>
                  <a:lnTo>
                    <a:pt x="2521" y="9893"/>
                  </a:lnTo>
                  <a:lnTo>
                    <a:pt x="1986" y="9326"/>
                  </a:lnTo>
                  <a:lnTo>
                    <a:pt x="2490" y="8633"/>
                  </a:lnTo>
                  <a:cubicBezTo>
                    <a:pt x="2584" y="8507"/>
                    <a:pt x="2584" y="8350"/>
                    <a:pt x="2490" y="8224"/>
                  </a:cubicBezTo>
                  <a:cubicBezTo>
                    <a:pt x="2175" y="7751"/>
                    <a:pt x="1986" y="7278"/>
                    <a:pt x="1860" y="6743"/>
                  </a:cubicBezTo>
                  <a:cubicBezTo>
                    <a:pt x="1828" y="6585"/>
                    <a:pt x="1702" y="6491"/>
                    <a:pt x="1576" y="6459"/>
                  </a:cubicBezTo>
                  <a:lnTo>
                    <a:pt x="726" y="6302"/>
                  </a:lnTo>
                  <a:lnTo>
                    <a:pt x="726" y="5514"/>
                  </a:lnTo>
                  <a:lnTo>
                    <a:pt x="1576" y="5357"/>
                  </a:lnTo>
                  <a:cubicBezTo>
                    <a:pt x="1734" y="5325"/>
                    <a:pt x="1828" y="5231"/>
                    <a:pt x="1860" y="5073"/>
                  </a:cubicBezTo>
                  <a:cubicBezTo>
                    <a:pt x="1986" y="4506"/>
                    <a:pt x="2175" y="4065"/>
                    <a:pt x="2490" y="3592"/>
                  </a:cubicBezTo>
                  <a:cubicBezTo>
                    <a:pt x="2584" y="3466"/>
                    <a:pt x="2584" y="3309"/>
                    <a:pt x="2490" y="3183"/>
                  </a:cubicBezTo>
                  <a:lnTo>
                    <a:pt x="1986" y="2490"/>
                  </a:lnTo>
                  <a:lnTo>
                    <a:pt x="2521" y="1923"/>
                  </a:lnTo>
                  <a:lnTo>
                    <a:pt x="3246" y="2427"/>
                  </a:lnTo>
                  <a:cubicBezTo>
                    <a:pt x="3309" y="2474"/>
                    <a:pt x="3372" y="2498"/>
                    <a:pt x="3435" y="2498"/>
                  </a:cubicBezTo>
                  <a:cubicBezTo>
                    <a:pt x="3498" y="2498"/>
                    <a:pt x="3561" y="2474"/>
                    <a:pt x="3624" y="2427"/>
                  </a:cubicBezTo>
                  <a:cubicBezTo>
                    <a:pt x="4097" y="2112"/>
                    <a:pt x="4569" y="1923"/>
                    <a:pt x="5136" y="1797"/>
                  </a:cubicBezTo>
                  <a:cubicBezTo>
                    <a:pt x="5294" y="1765"/>
                    <a:pt x="5357" y="1639"/>
                    <a:pt x="5420" y="1513"/>
                  </a:cubicBezTo>
                  <a:lnTo>
                    <a:pt x="5577" y="662"/>
                  </a:lnTo>
                  <a:close/>
                  <a:moveTo>
                    <a:pt x="5262" y="1"/>
                  </a:moveTo>
                  <a:cubicBezTo>
                    <a:pt x="5073" y="1"/>
                    <a:pt x="4916" y="127"/>
                    <a:pt x="4884" y="284"/>
                  </a:cubicBezTo>
                  <a:lnTo>
                    <a:pt x="4727" y="1166"/>
                  </a:lnTo>
                  <a:cubicBezTo>
                    <a:pt x="4254" y="1292"/>
                    <a:pt x="3813" y="1481"/>
                    <a:pt x="3435" y="1734"/>
                  </a:cubicBezTo>
                  <a:lnTo>
                    <a:pt x="2679" y="1229"/>
                  </a:lnTo>
                  <a:cubicBezTo>
                    <a:pt x="2610" y="1174"/>
                    <a:pt x="2541" y="1149"/>
                    <a:pt x="2474" y="1149"/>
                  </a:cubicBezTo>
                  <a:cubicBezTo>
                    <a:pt x="2389" y="1149"/>
                    <a:pt x="2309" y="1190"/>
                    <a:pt x="2238" y="1261"/>
                  </a:cubicBezTo>
                  <a:lnTo>
                    <a:pt x="1261" y="2238"/>
                  </a:lnTo>
                  <a:cubicBezTo>
                    <a:pt x="1135" y="2364"/>
                    <a:pt x="1135" y="2553"/>
                    <a:pt x="1230" y="2679"/>
                  </a:cubicBezTo>
                  <a:lnTo>
                    <a:pt x="1734" y="3435"/>
                  </a:lnTo>
                  <a:cubicBezTo>
                    <a:pt x="1513" y="3813"/>
                    <a:pt x="1324" y="4254"/>
                    <a:pt x="1198" y="4726"/>
                  </a:cubicBezTo>
                  <a:lnTo>
                    <a:pt x="284" y="4884"/>
                  </a:lnTo>
                  <a:cubicBezTo>
                    <a:pt x="127" y="4915"/>
                    <a:pt x="1" y="5042"/>
                    <a:pt x="1" y="5231"/>
                  </a:cubicBezTo>
                  <a:lnTo>
                    <a:pt x="1" y="6617"/>
                  </a:lnTo>
                  <a:cubicBezTo>
                    <a:pt x="64" y="6774"/>
                    <a:pt x="158" y="6932"/>
                    <a:pt x="316" y="6963"/>
                  </a:cubicBezTo>
                  <a:lnTo>
                    <a:pt x="1230" y="7121"/>
                  </a:lnTo>
                  <a:cubicBezTo>
                    <a:pt x="1356" y="7593"/>
                    <a:pt x="1545" y="8034"/>
                    <a:pt x="1797" y="8413"/>
                  </a:cubicBezTo>
                  <a:lnTo>
                    <a:pt x="1261" y="9169"/>
                  </a:lnTo>
                  <a:cubicBezTo>
                    <a:pt x="1167" y="9295"/>
                    <a:pt x="1198" y="9484"/>
                    <a:pt x="1324" y="9610"/>
                  </a:cubicBezTo>
                  <a:lnTo>
                    <a:pt x="2301" y="10586"/>
                  </a:lnTo>
                  <a:cubicBezTo>
                    <a:pt x="2368" y="10654"/>
                    <a:pt x="2454" y="10685"/>
                    <a:pt x="2533" y="10685"/>
                  </a:cubicBezTo>
                  <a:cubicBezTo>
                    <a:pt x="2602" y="10685"/>
                    <a:pt x="2666" y="10662"/>
                    <a:pt x="2710" y="10618"/>
                  </a:cubicBezTo>
                  <a:lnTo>
                    <a:pt x="3466" y="10114"/>
                  </a:lnTo>
                  <a:cubicBezTo>
                    <a:pt x="3876" y="10366"/>
                    <a:pt x="4286" y="10555"/>
                    <a:pt x="4790" y="10681"/>
                  </a:cubicBezTo>
                  <a:lnTo>
                    <a:pt x="4947" y="11563"/>
                  </a:lnTo>
                  <a:cubicBezTo>
                    <a:pt x="4979" y="11721"/>
                    <a:pt x="5105" y="11847"/>
                    <a:pt x="5294" y="11847"/>
                  </a:cubicBezTo>
                  <a:lnTo>
                    <a:pt x="6680" y="11847"/>
                  </a:lnTo>
                  <a:cubicBezTo>
                    <a:pt x="6837" y="11847"/>
                    <a:pt x="6995" y="11721"/>
                    <a:pt x="7027" y="11563"/>
                  </a:cubicBezTo>
                  <a:lnTo>
                    <a:pt x="7184" y="10681"/>
                  </a:lnTo>
                  <a:cubicBezTo>
                    <a:pt x="7657" y="10555"/>
                    <a:pt x="8098" y="10366"/>
                    <a:pt x="8476" y="10114"/>
                  </a:cubicBezTo>
                  <a:lnTo>
                    <a:pt x="9232" y="10618"/>
                  </a:lnTo>
                  <a:cubicBezTo>
                    <a:pt x="9301" y="10673"/>
                    <a:pt x="9370" y="10698"/>
                    <a:pt x="9436" y="10698"/>
                  </a:cubicBezTo>
                  <a:cubicBezTo>
                    <a:pt x="9521" y="10698"/>
                    <a:pt x="9602" y="10657"/>
                    <a:pt x="9673" y="10586"/>
                  </a:cubicBezTo>
                  <a:lnTo>
                    <a:pt x="10650" y="9610"/>
                  </a:lnTo>
                  <a:cubicBezTo>
                    <a:pt x="10776" y="9484"/>
                    <a:pt x="10776" y="9295"/>
                    <a:pt x="10681" y="9169"/>
                  </a:cubicBezTo>
                  <a:lnTo>
                    <a:pt x="10177" y="8413"/>
                  </a:lnTo>
                  <a:cubicBezTo>
                    <a:pt x="10398" y="8034"/>
                    <a:pt x="10618" y="7593"/>
                    <a:pt x="10713" y="7121"/>
                  </a:cubicBezTo>
                  <a:lnTo>
                    <a:pt x="11626" y="6963"/>
                  </a:lnTo>
                  <a:cubicBezTo>
                    <a:pt x="11784" y="6932"/>
                    <a:pt x="11910" y="6806"/>
                    <a:pt x="11910" y="6617"/>
                  </a:cubicBezTo>
                  <a:lnTo>
                    <a:pt x="11910" y="5231"/>
                  </a:lnTo>
                  <a:cubicBezTo>
                    <a:pt x="11910" y="5073"/>
                    <a:pt x="11784" y="4915"/>
                    <a:pt x="11626" y="4884"/>
                  </a:cubicBezTo>
                  <a:lnTo>
                    <a:pt x="10713" y="4726"/>
                  </a:lnTo>
                  <a:cubicBezTo>
                    <a:pt x="10618" y="4254"/>
                    <a:pt x="10398" y="3813"/>
                    <a:pt x="10177" y="3403"/>
                  </a:cubicBezTo>
                  <a:lnTo>
                    <a:pt x="10681" y="2679"/>
                  </a:lnTo>
                  <a:cubicBezTo>
                    <a:pt x="10807" y="2553"/>
                    <a:pt x="10776" y="2364"/>
                    <a:pt x="10650" y="2238"/>
                  </a:cubicBezTo>
                  <a:lnTo>
                    <a:pt x="9673" y="1261"/>
                  </a:lnTo>
                  <a:cubicBezTo>
                    <a:pt x="9605" y="1193"/>
                    <a:pt x="9520" y="1162"/>
                    <a:pt x="9435" y="1162"/>
                  </a:cubicBezTo>
                  <a:cubicBezTo>
                    <a:pt x="9362" y="1162"/>
                    <a:pt x="9290" y="1186"/>
                    <a:pt x="9232" y="1229"/>
                  </a:cubicBezTo>
                  <a:lnTo>
                    <a:pt x="8476" y="1734"/>
                  </a:lnTo>
                  <a:cubicBezTo>
                    <a:pt x="8098" y="1481"/>
                    <a:pt x="7657" y="1292"/>
                    <a:pt x="7184" y="1166"/>
                  </a:cubicBezTo>
                  <a:lnTo>
                    <a:pt x="6995" y="284"/>
                  </a:lnTo>
                  <a:cubicBezTo>
                    <a:pt x="6932" y="127"/>
                    <a:pt x="6837" y="1"/>
                    <a:pt x="66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5" name="Google Shape;375;g3f1dfb5de8e_0_1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f1dfb5de8e_0_166"/>
          <p:cNvSpPr txBox="1"/>
          <p:nvPr>
            <p:ph type="title"/>
          </p:nvPr>
        </p:nvSpPr>
        <p:spPr>
          <a:xfrm>
            <a:off x="408550" y="133750"/>
            <a:ext cx="822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Deflación y Estados Excitados</a:t>
            </a:r>
            <a:endParaRPr/>
          </a:p>
        </p:txBody>
      </p:sp>
      <p:grpSp>
        <p:nvGrpSpPr>
          <p:cNvPr id="381" name="Google Shape;381;g3f1dfb5de8e_0_166"/>
          <p:cNvGrpSpPr/>
          <p:nvPr/>
        </p:nvGrpSpPr>
        <p:grpSpPr>
          <a:xfrm>
            <a:off x="561797" y="1148604"/>
            <a:ext cx="368186" cy="366364"/>
            <a:chOff x="-63679950" y="3360375"/>
            <a:chExt cx="318225" cy="316650"/>
          </a:xfrm>
        </p:grpSpPr>
        <p:sp>
          <p:nvSpPr>
            <p:cNvPr id="382" name="Google Shape;382;g3f1dfb5de8e_0_166"/>
            <p:cNvSpPr/>
            <p:nvPr/>
          </p:nvSpPr>
          <p:spPr>
            <a:xfrm>
              <a:off x="-63497200" y="34234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819" y="0"/>
                  </a:moveTo>
                  <a:cubicBezTo>
                    <a:pt x="378" y="0"/>
                    <a:pt x="0" y="378"/>
                    <a:pt x="0" y="819"/>
                  </a:cubicBezTo>
                  <a:cubicBezTo>
                    <a:pt x="0" y="1260"/>
                    <a:pt x="378" y="1638"/>
                    <a:pt x="819" y="1638"/>
                  </a:cubicBezTo>
                  <a:cubicBezTo>
                    <a:pt x="1260" y="1638"/>
                    <a:pt x="1638" y="1260"/>
                    <a:pt x="1638" y="819"/>
                  </a:cubicBezTo>
                  <a:cubicBezTo>
                    <a:pt x="1638" y="378"/>
                    <a:pt x="1260" y="0"/>
                    <a:pt x="8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g3f1dfb5de8e_0_166"/>
            <p:cNvSpPr/>
            <p:nvPr/>
          </p:nvSpPr>
          <p:spPr>
            <a:xfrm>
              <a:off x="-63516900" y="3485625"/>
              <a:ext cx="79575" cy="29950"/>
            </a:xfrm>
            <a:custGeom>
              <a:rect b="b" l="l" r="r" t="t"/>
              <a:pathLst>
                <a:path extrusionOk="0" h="1198" w="3183">
                  <a:moveTo>
                    <a:pt x="1607" y="0"/>
                  </a:moveTo>
                  <a:cubicBezTo>
                    <a:pt x="820" y="0"/>
                    <a:pt x="190" y="504"/>
                    <a:pt x="1" y="1197"/>
                  </a:cubicBezTo>
                  <a:lnTo>
                    <a:pt x="3183" y="1197"/>
                  </a:lnTo>
                  <a:cubicBezTo>
                    <a:pt x="3025" y="504"/>
                    <a:pt x="2395" y="0"/>
                    <a:pt x="16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g3f1dfb5de8e_0_166"/>
            <p:cNvSpPr/>
            <p:nvPr/>
          </p:nvSpPr>
          <p:spPr>
            <a:xfrm>
              <a:off x="-63618500" y="3360375"/>
              <a:ext cx="256775" cy="256600"/>
            </a:xfrm>
            <a:custGeom>
              <a:rect b="b" l="l" r="r" t="t"/>
              <a:pathLst>
                <a:path extrusionOk="0" h="10264" w="10271">
                  <a:moveTo>
                    <a:pt x="5703" y="1639"/>
                  </a:moveTo>
                  <a:cubicBezTo>
                    <a:pt x="6616" y="1639"/>
                    <a:pt x="7373" y="2395"/>
                    <a:pt x="7373" y="3309"/>
                  </a:cubicBezTo>
                  <a:cubicBezTo>
                    <a:pt x="7373" y="3750"/>
                    <a:pt x="7215" y="4128"/>
                    <a:pt x="6900" y="4443"/>
                  </a:cubicBezTo>
                  <a:cubicBezTo>
                    <a:pt x="7625" y="4884"/>
                    <a:pt x="8192" y="5672"/>
                    <a:pt x="8192" y="6617"/>
                  </a:cubicBezTo>
                  <a:cubicBezTo>
                    <a:pt x="8160" y="6900"/>
                    <a:pt x="8003" y="7058"/>
                    <a:pt x="7751" y="7058"/>
                  </a:cubicBezTo>
                  <a:lnTo>
                    <a:pt x="3623" y="7058"/>
                  </a:lnTo>
                  <a:cubicBezTo>
                    <a:pt x="3371" y="7058"/>
                    <a:pt x="3214" y="6837"/>
                    <a:pt x="3214" y="6617"/>
                  </a:cubicBezTo>
                  <a:cubicBezTo>
                    <a:pt x="3214" y="5672"/>
                    <a:pt x="3749" y="4884"/>
                    <a:pt x="4537" y="4443"/>
                  </a:cubicBezTo>
                  <a:cubicBezTo>
                    <a:pt x="4254" y="4128"/>
                    <a:pt x="4065" y="3718"/>
                    <a:pt x="4065" y="3309"/>
                  </a:cubicBezTo>
                  <a:cubicBezTo>
                    <a:pt x="4065" y="2395"/>
                    <a:pt x="4789" y="1639"/>
                    <a:pt x="5703" y="1639"/>
                  </a:cubicBezTo>
                  <a:close/>
                  <a:moveTo>
                    <a:pt x="5703" y="1"/>
                  </a:moveTo>
                  <a:cubicBezTo>
                    <a:pt x="3182" y="1"/>
                    <a:pt x="1135" y="2049"/>
                    <a:pt x="1135" y="4569"/>
                  </a:cubicBezTo>
                  <a:cubicBezTo>
                    <a:pt x="1135" y="5609"/>
                    <a:pt x="1481" y="6648"/>
                    <a:pt x="2206" y="7467"/>
                  </a:cubicBezTo>
                  <a:lnTo>
                    <a:pt x="1607" y="8066"/>
                  </a:lnTo>
                  <a:lnTo>
                    <a:pt x="756" y="7184"/>
                  </a:lnTo>
                  <a:cubicBezTo>
                    <a:pt x="678" y="7121"/>
                    <a:pt x="567" y="7089"/>
                    <a:pt x="457" y="7089"/>
                  </a:cubicBezTo>
                  <a:cubicBezTo>
                    <a:pt x="347" y="7089"/>
                    <a:pt x="237" y="7121"/>
                    <a:pt x="158" y="7184"/>
                  </a:cubicBezTo>
                  <a:cubicBezTo>
                    <a:pt x="0" y="7341"/>
                    <a:pt x="0" y="7625"/>
                    <a:pt x="158" y="7783"/>
                  </a:cubicBezTo>
                  <a:lnTo>
                    <a:pt x="1324" y="8980"/>
                  </a:lnTo>
                  <a:lnTo>
                    <a:pt x="2521" y="10145"/>
                  </a:lnTo>
                  <a:cubicBezTo>
                    <a:pt x="2600" y="10224"/>
                    <a:pt x="2710" y="10264"/>
                    <a:pt x="2820" y="10264"/>
                  </a:cubicBezTo>
                  <a:cubicBezTo>
                    <a:pt x="2930" y="10264"/>
                    <a:pt x="3041" y="10224"/>
                    <a:pt x="3119" y="10145"/>
                  </a:cubicBezTo>
                  <a:cubicBezTo>
                    <a:pt x="3277" y="9988"/>
                    <a:pt x="3277" y="9704"/>
                    <a:pt x="3119" y="9547"/>
                  </a:cubicBezTo>
                  <a:lnTo>
                    <a:pt x="2237" y="8696"/>
                  </a:lnTo>
                  <a:lnTo>
                    <a:pt x="2836" y="8098"/>
                  </a:lnTo>
                  <a:cubicBezTo>
                    <a:pt x="3655" y="8759"/>
                    <a:pt x="4695" y="9169"/>
                    <a:pt x="5734" y="9169"/>
                  </a:cubicBezTo>
                  <a:cubicBezTo>
                    <a:pt x="8255" y="9169"/>
                    <a:pt x="10271" y="7121"/>
                    <a:pt x="10271" y="4632"/>
                  </a:cubicBezTo>
                  <a:cubicBezTo>
                    <a:pt x="10239" y="2049"/>
                    <a:pt x="8223" y="1"/>
                    <a:pt x="57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g3f1dfb5de8e_0_166"/>
            <p:cNvSpPr/>
            <p:nvPr/>
          </p:nvSpPr>
          <p:spPr>
            <a:xfrm>
              <a:off x="-63679950" y="3576200"/>
              <a:ext cx="102425" cy="100825"/>
            </a:xfrm>
            <a:custGeom>
              <a:rect b="b" l="l" r="r" t="t"/>
              <a:pathLst>
                <a:path extrusionOk="0" h="4033" w="4097">
                  <a:moveTo>
                    <a:pt x="2332" y="0"/>
                  </a:moveTo>
                  <a:lnTo>
                    <a:pt x="159" y="2142"/>
                  </a:lnTo>
                  <a:cubicBezTo>
                    <a:pt x="1" y="2300"/>
                    <a:pt x="1" y="2584"/>
                    <a:pt x="159" y="2741"/>
                  </a:cubicBezTo>
                  <a:lnTo>
                    <a:pt x="1356" y="3938"/>
                  </a:lnTo>
                  <a:cubicBezTo>
                    <a:pt x="1434" y="4001"/>
                    <a:pt x="1545" y="4033"/>
                    <a:pt x="1655" y="4033"/>
                  </a:cubicBezTo>
                  <a:cubicBezTo>
                    <a:pt x="1765" y="4033"/>
                    <a:pt x="1876" y="4001"/>
                    <a:pt x="1954" y="3938"/>
                  </a:cubicBezTo>
                  <a:lnTo>
                    <a:pt x="4097" y="1764"/>
                  </a:lnTo>
                  <a:lnTo>
                    <a:pt x="233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6" name="Google Shape;386;g3f1dfb5de8e_0_166"/>
          <p:cNvSpPr/>
          <p:nvPr/>
        </p:nvSpPr>
        <p:spPr>
          <a:xfrm>
            <a:off x="642041" y="709200"/>
            <a:ext cx="4293300" cy="754500"/>
          </a:xfrm>
          <a:prstGeom prst="rect">
            <a:avLst/>
          </a:prstGeom>
          <a:gradFill>
            <a:gsLst>
              <a:gs pos="0">
                <a:srgbClr val="EFEFEF"/>
              </a:gs>
              <a:gs pos="64000">
                <a:srgbClr val="F3F3F3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f1dfb5de8e_0_166"/>
          <p:cNvSpPr txBox="1"/>
          <p:nvPr/>
        </p:nvSpPr>
        <p:spPr>
          <a:xfrm>
            <a:off x="1301934" y="992593"/>
            <a:ext cx="3633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100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Estrategia Deflation</a:t>
            </a:r>
            <a:endParaRPr b="1" sz="2100">
              <a:solidFill>
                <a:srgbClr val="38BDF8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" name="Google Shape;388;g3f1dfb5de8e_0_166"/>
          <p:cNvSpPr/>
          <p:nvPr/>
        </p:nvSpPr>
        <p:spPr>
          <a:xfrm>
            <a:off x="117899" y="479400"/>
            <a:ext cx="1272325" cy="1257328"/>
          </a:xfrm>
          <a:custGeom>
            <a:rect b="b" l="l" r="r" t="t"/>
            <a:pathLst>
              <a:path extrusionOk="0" h="25278" w="25486">
                <a:moveTo>
                  <a:pt x="12746" y="4905"/>
                </a:moveTo>
                <a:cubicBezTo>
                  <a:pt x="13701" y="4905"/>
                  <a:pt x="14672" y="5083"/>
                  <a:pt x="15613" y="5460"/>
                </a:cubicBezTo>
                <a:cubicBezTo>
                  <a:pt x="19580" y="7047"/>
                  <a:pt x="21508" y="11545"/>
                  <a:pt x="19923" y="15511"/>
                </a:cubicBezTo>
                <a:cubicBezTo>
                  <a:pt x="18714" y="18534"/>
                  <a:pt x="15811" y="20374"/>
                  <a:pt x="12742" y="20374"/>
                </a:cubicBezTo>
                <a:cubicBezTo>
                  <a:pt x="11786" y="20374"/>
                  <a:pt x="10814" y="20196"/>
                  <a:pt x="9873" y="19819"/>
                </a:cubicBezTo>
                <a:cubicBezTo>
                  <a:pt x="5908" y="18234"/>
                  <a:pt x="3978" y="13734"/>
                  <a:pt x="5563" y="9769"/>
                </a:cubicBezTo>
                <a:cubicBezTo>
                  <a:pt x="6772" y="6745"/>
                  <a:pt x="9676" y="4905"/>
                  <a:pt x="12746" y="4905"/>
                </a:cubicBezTo>
                <a:close/>
                <a:moveTo>
                  <a:pt x="15551" y="1"/>
                </a:moveTo>
                <a:cubicBezTo>
                  <a:pt x="15240" y="1"/>
                  <a:pt x="14946" y="187"/>
                  <a:pt x="14824" y="492"/>
                </a:cubicBezTo>
                <a:lnTo>
                  <a:pt x="14047" y="2435"/>
                </a:lnTo>
                <a:cubicBezTo>
                  <a:pt x="13612" y="2378"/>
                  <a:pt x="13174" y="2350"/>
                  <a:pt x="12736" y="2350"/>
                </a:cubicBezTo>
                <a:cubicBezTo>
                  <a:pt x="12218" y="2350"/>
                  <a:pt x="11700" y="2390"/>
                  <a:pt x="11187" y="2469"/>
                </a:cubicBezTo>
                <a:lnTo>
                  <a:pt x="10364" y="547"/>
                </a:lnTo>
                <a:cubicBezTo>
                  <a:pt x="10238" y="251"/>
                  <a:pt x="9949" y="73"/>
                  <a:pt x="9646" y="73"/>
                </a:cubicBezTo>
                <a:cubicBezTo>
                  <a:pt x="9543" y="73"/>
                  <a:pt x="9438" y="93"/>
                  <a:pt x="9338" y="137"/>
                </a:cubicBezTo>
                <a:lnTo>
                  <a:pt x="6036" y="1553"/>
                </a:lnTo>
                <a:cubicBezTo>
                  <a:pt x="5640" y="1722"/>
                  <a:pt x="5456" y="2182"/>
                  <a:pt x="5626" y="2579"/>
                </a:cubicBezTo>
                <a:lnTo>
                  <a:pt x="6449" y="4501"/>
                </a:lnTo>
                <a:cubicBezTo>
                  <a:pt x="5690" y="5085"/>
                  <a:pt x="5019" y="5775"/>
                  <a:pt x="4452" y="6549"/>
                </a:cubicBezTo>
                <a:lnTo>
                  <a:pt x="2510" y="5772"/>
                </a:lnTo>
                <a:cubicBezTo>
                  <a:pt x="2414" y="5734"/>
                  <a:pt x="2316" y="5716"/>
                  <a:pt x="2219" y="5716"/>
                </a:cubicBezTo>
                <a:cubicBezTo>
                  <a:pt x="1910" y="5716"/>
                  <a:pt x="1616" y="5901"/>
                  <a:pt x="1493" y="6208"/>
                </a:cubicBezTo>
                <a:lnTo>
                  <a:pt x="161" y="9542"/>
                </a:lnTo>
                <a:cubicBezTo>
                  <a:pt x="0" y="9944"/>
                  <a:pt x="194" y="10398"/>
                  <a:pt x="596" y="10558"/>
                </a:cubicBezTo>
                <a:lnTo>
                  <a:pt x="2537" y="11335"/>
                </a:lnTo>
                <a:cubicBezTo>
                  <a:pt x="2415" y="12285"/>
                  <a:pt x="2426" y="13249"/>
                  <a:pt x="2572" y="14195"/>
                </a:cubicBezTo>
                <a:lnTo>
                  <a:pt x="651" y="15018"/>
                </a:lnTo>
                <a:cubicBezTo>
                  <a:pt x="253" y="15189"/>
                  <a:pt x="71" y="15649"/>
                  <a:pt x="241" y="16046"/>
                </a:cubicBezTo>
                <a:lnTo>
                  <a:pt x="1655" y="19347"/>
                </a:lnTo>
                <a:cubicBezTo>
                  <a:pt x="1781" y="19643"/>
                  <a:pt x="2070" y="19821"/>
                  <a:pt x="2373" y="19821"/>
                </a:cubicBezTo>
                <a:cubicBezTo>
                  <a:pt x="2476" y="19821"/>
                  <a:pt x="2581" y="19800"/>
                  <a:pt x="2681" y="19756"/>
                </a:cubicBezTo>
                <a:lnTo>
                  <a:pt x="4603" y="18933"/>
                </a:lnTo>
                <a:cubicBezTo>
                  <a:pt x="5189" y="19692"/>
                  <a:pt x="5879" y="20365"/>
                  <a:pt x="6651" y="20930"/>
                </a:cubicBezTo>
                <a:lnTo>
                  <a:pt x="5874" y="22873"/>
                </a:lnTo>
                <a:cubicBezTo>
                  <a:pt x="5714" y="23273"/>
                  <a:pt x="5909" y="23728"/>
                  <a:pt x="6310" y="23888"/>
                </a:cubicBezTo>
                <a:lnTo>
                  <a:pt x="9645" y="25222"/>
                </a:lnTo>
                <a:cubicBezTo>
                  <a:pt x="9740" y="25260"/>
                  <a:pt x="9838" y="25278"/>
                  <a:pt x="9935" y="25278"/>
                </a:cubicBezTo>
                <a:cubicBezTo>
                  <a:pt x="10245" y="25278"/>
                  <a:pt x="10538" y="25092"/>
                  <a:pt x="10660" y="24786"/>
                </a:cubicBezTo>
                <a:lnTo>
                  <a:pt x="11437" y="22845"/>
                </a:lnTo>
                <a:cubicBezTo>
                  <a:pt x="11871" y="22901"/>
                  <a:pt x="12308" y="22929"/>
                  <a:pt x="12745" y="22929"/>
                </a:cubicBezTo>
                <a:cubicBezTo>
                  <a:pt x="13264" y="22929"/>
                  <a:pt x="13784" y="22889"/>
                  <a:pt x="14299" y="22810"/>
                </a:cubicBezTo>
                <a:lnTo>
                  <a:pt x="15122" y="24732"/>
                </a:lnTo>
                <a:cubicBezTo>
                  <a:pt x="15248" y="25028"/>
                  <a:pt x="15536" y="25206"/>
                  <a:pt x="15839" y="25206"/>
                </a:cubicBezTo>
                <a:cubicBezTo>
                  <a:pt x="15943" y="25206"/>
                  <a:pt x="16047" y="25185"/>
                  <a:pt x="16148" y="25142"/>
                </a:cubicBezTo>
                <a:lnTo>
                  <a:pt x="19449" y="23728"/>
                </a:lnTo>
                <a:cubicBezTo>
                  <a:pt x="19846" y="23558"/>
                  <a:pt x="20030" y="23098"/>
                  <a:pt x="19860" y="22701"/>
                </a:cubicBezTo>
                <a:lnTo>
                  <a:pt x="19037" y="20780"/>
                </a:lnTo>
                <a:cubicBezTo>
                  <a:pt x="19794" y="20194"/>
                  <a:pt x="20467" y="19503"/>
                  <a:pt x="21034" y="18732"/>
                </a:cubicBezTo>
                <a:lnTo>
                  <a:pt x="22975" y="19508"/>
                </a:lnTo>
                <a:cubicBezTo>
                  <a:pt x="23070" y="19546"/>
                  <a:pt x="23168" y="19564"/>
                  <a:pt x="23265" y="19564"/>
                </a:cubicBezTo>
                <a:cubicBezTo>
                  <a:pt x="23576" y="19564"/>
                  <a:pt x="23869" y="19378"/>
                  <a:pt x="23992" y="19073"/>
                </a:cubicBezTo>
                <a:lnTo>
                  <a:pt x="25326" y="15737"/>
                </a:lnTo>
                <a:cubicBezTo>
                  <a:pt x="25486" y="15337"/>
                  <a:pt x="25290" y="14882"/>
                  <a:pt x="24890" y="14722"/>
                </a:cubicBezTo>
                <a:lnTo>
                  <a:pt x="22948" y="13945"/>
                </a:lnTo>
                <a:cubicBezTo>
                  <a:pt x="23071" y="12994"/>
                  <a:pt x="23060" y="12032"/>
                  <a:pt x="22914" y="11084"/>
                </a:cubicBezTo>
                <a:lnTo>
                  <a:pt x="24835" y="10261"/>
                </a:lnTo>
                <a:cubicBezTo>
                  <a:pt x="25231" y="10091"/>
                  <a:pt x="25415" y="9631"/>
                  <a:pt x="25245" y="9234"/>
                </a:cubicBezTo>
                <a:lnTo>
                  <a:pt x="23830" y="5934"/>
                </a:lnTo>
                <a:cubicBezTo>
                  <a:pt x="23703" y="5637"/>
                  <a:pt x="23414" y="5459"/>
                  <a:pt x="23111" y="5459"/>
                </a:cubicBezTo>
                <a:cubicBezTo>
                  <a:pt x="23008" y="5459"/>
                  <a:pt x="22904" y="5479"/>
                  <a:pt x="22803" y="5522"/>
                </a:cubicBezTo>
                <a:lnTo>
                  <a:pt x="20882" y="6347"/>
                </a:lnTo>
                <a:cubicBezTo>
                  <a:pt x="20297" y="5588"/>
                  <a:pt x="19607" y="4915"/>
                  <a:pt x="18835" y="4348"/>
                </a:cubicBezTo>
                <a:lnTo>
                  <a:pt x="19610" y="2408"/>
                </a:lnTo>
                <a:cubicBezTo>
                  <a:pt x="19770" y="2006"/>
                  <a:pt x="19577" y="1551"/>
                  <a:pt x="19175" y="1391"/>
                </a:cubicBezTo>
                <a:lnTo>
                  <a:pt x="15841" y="57"/>
                </a:lnTo>
                <a:cubicBezTo>
                  <a:pt x="15745" y="19"/>
                  <a:pt x="15647" y="1"/>
                  <a:pt x="155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g3f1dfb5de8e_0_166"/>
          <p:cNvSpPr txBox="1"/>
          <p:nvPr/>
        </p:nvSpPr>
        <p:spPr>
          <a:xfrm>
            <a:off x="117900" y="1862322"/>
            <a:ext cx="481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Sustitución de un átomo de carbono por nitrógeno junto a una vacante en la red del diamante.</a:t>
            </a:r>
            <a:endParaRPr/>
          </a:p>
        </p:txBody>
      </p:sp>
      <p:sp>
        <p:nvSpPr>
          <p:cNvPr id="390" name="Google Shape;390;g3f1dfb5de8e_0_166"/>
          <p:cNvSpPr txBox="1"/>
          <p:nvPr/>
        </p:nvSpPr>
        <p:spPr>
          <a:xfrm>
            <a:off x="575550" y="2825275"/>
            <a:ext cx="4490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Actúan como "átomos artificiales" perfectamente aislados.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1" name="Google Shape;391;g3f1dfb5de8e_0_166"/>
          <p:cNvSpPr txBox="1"/>
          <p:nvPr/>
        </p:nvSpPr>
        <p:spPr>
          <a:xfrm>
            <a:off x="575550" y="3634900"/>
            <a:ext cx="4490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Espines altamente sensibles a campos magnéticos y temperatura.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2" name="Google Shape;392;g3f1dfb5de8e_0_166"/>
          <p:cNvSpPr txBox="1"/>
          <p:nvPr/>
        </p:nvSpPr>
        <p:spPr>
          <a:xfrm>
            <a:off x="575550" y="4444525"/>
            <a:ext cx="4490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Uso del VQE como </a:t>
            </a:r>
            <a:r>
              <a:rPr b="1" i="0" lang="en" sz="1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sensor virtual</a:t>
            </a:r>
            <a:r>
              <a:rPr b="0" i="0" lang="en" sz="1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alta precisión.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3" name="Google Shape;393;g3f1dfb5de8e_0_166"/>
          <p:cNvSpPr/>
          <p:nvPr/>
        </p:nvSpPr>
        <p:spPr>
          <a:xfrm>
            <a:off x="191150" y="2850025"/>
            <a:ext cx="248297" cy="230978"/>
          </a:xfrm>
          <a:custGeom>
            <a:rect b="b" l="l" r="r" t="t"/>
            <a:pathLst>
              <a:path extrusionOk="0" h="25278" w="25486">
                <a:moveTo>
                  <a:pt x="12746" y="4905"/>
                </a:moveTo>
                <a:cubicBezTo>
                  <a:pt x="13701" y="4905"/>
                  <a:pt x="14672" y="5083"/>
                  <a:pt x="15613" y="5460"/>
                </a:cubicBezTo>
                <a:cubicBezTo>
                  <a:pt x="19580" y="7047"/>
                  <a:pt x="21508" y="11545"/>
                  <a:pt x="19923" y="15511"/>
                </a:cubicBezTo>
                <a:cubicBezTo>
                  <a:pt x="18714" y="18534"/>
                  <a:pt x="15811" y="20374"/>
                  <a:pt x="12742" y="20374"/>
                </a:cubicBezTo>
                <a:cubicBezTo>
                  <a:pt x="11786" y="20374"/>
                  <a:pt x="10814" y="20196"/>
                  <a:pt x="9873" y="19819"/>
                </a:cubicBezTo>
                <a:cubicBezTo>
                  <a:pt x="5908" y="18234"/>
                  <a:pt x="3978" y="13734"/>
                  <a:pt x="5563" y="9769"/>
                </a:cubicBezTo>
                <a:cubicBezTo>
                  <a:pt x="6772" y="6745"/>
                  <a:pt x="9676" y="4905"/>
                  <a:pt x="12746" y="4905"/>
                </a:cubicBezTo>
                <a:close/>
                <a:moveTo>
                  <a:pt x="15551" y="1"/>
                </a:moveTo>
                <a:cubicBezTo>
                  <a:pt x="15240" y="1"/>
                  <a:pt x="14946" y="187"/>
                  <a:pt x="14824" y="492"/>
                </a:cubicBezTo>
                <a:lnTo>
                  <a:pt x="14047" y="2435"/>
                </a:lnTo>
                <a:cubicBezTo>
                  <a:pt x="13612" y="2378"/>
                  <a:pt x="13174" y="2350"/>
                  <a:pt x="12736" y="2350"/>
                </a:cubicBezTo>
                <a:cubicBezTo>
                  <a:pt x="12218" y="2350"/>
                  <a:pt x="11700" y="2390"/>
                  <a:pt x="11187" y="2469"/>
                </a:cubicBezTo>
                <a:lnTo>
                  <a:pt x="10364" y="547"/>
                </a:lnTo>
                <a:cubicBezTo>
                  <a:pt x="10238" y="251"/>
                  <a:pt x="9949" y="73"/>
                  <a:pt x="9646" y="73"/>
                </a:cubicBezTo>
                <a:cubicBezTo>
                  <a:pt x="9543" y="73"/>
                  <a:pt x="9438" y="93"/>
                  <a:pt x="9338" y="137"/>
                </a:cubicBezTo>
                <a:lnTo>
                  <a:pt x="6036" y="1553"/>
                </a:lnTo>
                <a:cubicBezTo>
                  <a:pt x="5640" y="1722"/>
                  <a:pt x="5456" y="2182"/>
                  <a:pt x="5626" y="2579"/>
                </a:cubicBezTo>
                <a:lnTo>
                  <a:pt x="6449" y="4501"/>
                </a:lnTo>
                <a:cubicBezTo>
                  <a:pt x="5690" y="5085"/>
                  <a:pt x="5019" y="5775"/>
                  <a:pt x="4452" y="6549"/>
                </a:cubicBezTo>
                <a:lnTo>
                  <a:pt x="2510" y="5772"/>
                </a:lnTo>
                <a:cubicBezTo>
                  <a:pt x="2414" y="5734"/>
                  <a:pt x="2316" y="5716"/>
                  <a:pt x="2219" y="5716"/>
                </a:cubicBezTo>
                <a:cubicBezTo>
                  <a:pt x="1910" y="5716"/>
                  <a:pt x="1616" y="5901"/>
                  <a:pt x="1493" y="6208"/>
                </a:cubicBezTo>
                <a:lnTo>
                  <a:pt x="161" y="9542"/>
                </a:lnTo>
                <a:cubicBezTo>
                  <a:pt x="0" y="9944"/>
                  <a:pt x="194" y="10398"/>
                  <a:pt x="596" y="10558"/>
                </a:cubicBezTo>
                <a:lnTo>
                  <a:pt x="2537" y="11335"/>
                </a:lnTo>
                <a:cubicBezTo>
                  <a:pt x="2415" y="12285"/>
                  <a:pt x="2426" y="13249"/>
                  <a:pt x="2572" y="14195"/>
                </a:cubicBezTo>
                <a:lnTo>
                  <a:pt x="651" y="15018"/>
                </a:lnTo>
                <a:cubicBezTo>
                  <a:pt x="253" y="15189"/>
                  <a:pt x="71" y="15649"/>
                  <a:pt x="241" y="16046"/>
                </a:cubicBezTo>
                <a:lnTo>
                  <a:pt x="1655" y="19347"/>
                </a:lnTo>
                <a:cubicBezTo>
                  <a:pt x="1781" y="19643"/>
                  <a:pt x="2070" y="19821"/>
                  <a:pt x="2373" y="19821"/>
                </a:cubicBezTo>
                <a:cubicBezTo>
                  <a:pt x="2476" y="19821"/>
                  <a:pt x="2581" y="19800"/>
                  <a:pt x="2681" y="19756"/>
                </a:cubicBezTo>
                <a:lnTo>
                  <a:pt x="4603" y="18933"/>
                </a:lnTo>
                <a:cubicBezTo>
                  <a:pt x="5189" y="19692"/>
                  <a:pt x="5879" y="20365"/>
                  <a:pt x="6651" y="20930"/>
                </a:cubicBezTo>
                <a:lnTo>
                  <a:pt x="5874" y="22873"/>
                </a:lnTo>
                <a:cubicBezTo>
                  <a:pt x="5714" y="23273"/>
                  <a:pt x="5909" y="23728"/>
                  <a:pt x="6310" y="23888"/>
                </a:cubicBezTo>
                <a:lnTo>
                  <a:pt x="9645" y="25222"/>
                </a:lnTo>
                <a:cubicBezTo>
                  <a:pt x="9740" y="25260"/>
                  <a:pt x="9838" y="25278"/>
                  <a:pt x="9935" y="25278"/>
                </a:cubicBezTo>
                <a:cubicBezTo>
                  <a:pt x="10245" y="25278"/>
                  <a:pt x="10538" y="25092"/>
                  <a:pt x="10660" y="24786"/>
                </a:cubicBezTo>
                <a:lnTo>
                  <a:pt x="11437" y="22845"/>
                </a:lnTo>
                <a:cubicBezTo>
                  <a:pt x="11871" y="22901"/>
                  <a:pt x="12308" y="22929"/>
                  <a:pt x="12745" y="22929"/>
                </a:cubicBezTo>
                <a:cubicBezTo>
                  <a:pt x="13264" y="22929"/>
                  <a:pt x="13784" y="22889"/>
                  <a:pt x="14299" y="22810"/>
                </a:cubicBezTo>
                <a:lnTo>
                  <a:pt x="15122" y="24732"/>
                </a:lnTo>
                <a:cubicBezTo>
                  <a:pt x="15248" y="25028"/>
                  <a:pt x="15536" y="25206"/>
                  <a:pt x="15839" y="25206"/>
                </a:cubicBezTo>
                <a:cubicBezTo>
                  <a:pt x="15943" y="25206"/>
                  <a:pt x="16047" y="25185"/>
                  <a:pt x="16148" y="25142"/>
                </a:cubicBezTo>
                <a:lnTo>
                  <a:pt x="19449" y="23728"/>
                </a:lnTo>
                <a:cubicBezTo>
                  <a:pt x="19846" y="23558"/>
                  <a:pt x="20030" y="23098"/>
                  <a:pt x="19860" y="22701"/>
                </a:cubicBezTo>
                <a:lnTo>
                  <a:pt x="19037" y="20780"/>
                </a:lnTo>
                <a:cubicBezTo>
                  <a:pt x="19794" y="20194"/>
                  <a:pt x="20467" y="19503"/>
                  <a:pt x="21034" y="18732"/>
                </a:cubicBezTo>
                <a:lnTo>
                  <a:pt x="22975" y="19508"/>
                </a:lnTo>
                <a:cubicBezTo>
                  <a:pt x="23070" y="19546"/>
                  <a:pt x="23168" y="19564"/>
                  <a:pt x="23265" y="19564"/>
                </a:cubicBezTo>
                <a:cubicBezTo>
                  <a:pt x="23576" y="19564"/>
                  <a:pt x="23869" y="19378"/>
                  <a:pt x="23992" y="19073"/>
                </a:cubicBezTo>
                <a:lnTo>
                  <a:pt x="25326" y="15737"/>
                </a:lnTo>
                <a:cubicBezTo>
                  <a:pt x="25486" y="15337"/>
                  <a:pt x="25290" y="14882"/>
                  <a:pt x="24890" y="14722"/>
                </a:cubicBezTo>
                <a:lnTo>
                  <a:pt x="22948" y="13945"/>
                </a:lnTo>
                <a:cubicBezTo>
                  <a:pt x="23071" y="12994"/>
                  <a:pt x="23060" y="12032"/>
                  <a:pt x="22914" y="11084"/>
                </a:cubicBezTo>
                <a:lnTo>
                  <a:pt x="24835" y="10261"/>
                </a:lnTo>
                <a:cubicBezTo>
                  <a:pt x="25231" y="10091"/>
                  <a:pt x="25415" y="9631"/>
                  <a:pt x="25245" y="9234"/>
                </a:cubicBezTo>
                <a:lnTo>
                  <a:pt x="23830" y="5934"/>
                </a:lnTo>
                <a:cubicBezTo>
                  <a:pt x="23703" y="5637"/>
                  <a:pt x="23414" y="5459"/>
                  <a:pt x="23111" y="5459"/>
                </a:cubicBezTo>
                <a:cubicBezTo>
                  <a:pt x="23008" y="5459"/>
                  <a:pt x="22904" y="5479"/>
                  <a:pt x="22803" y="5522"/>
                </a:cubicBezTo>
                <a:lnTo>
                  <a:pt x="20882" y="6347"/>
                </a:lnTo>
                <a:cubicBezTo>
                  <a:pt x="20297" y="5588"/>
                  <a:pt x="19607" y="4915"/>
                  <a:pt x="18835" y="4348"/>
                </a:cubicBezTo>
                <a:lnTo>
                  <a:pt x="19610" y="2408"/>
                </a:lnTo>
                <a:cubicBezTo>
                  <a:pt x="19770" y="2006"/>
                  <a:pt x="19577" y="1551"/>
                  <a:pt x="19175" y="1391"/>
                </a:cubicBezTo>
                <a:lnTo>
                  <a:pt x="15841" y="57"/>
                </a:lnTo>
                <a:cubicBezTo>
                  <a:pt x="15745" y="19"/>
                  <a:pt x="15647" y="1"/>
                  <a:pt x="155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g3f1dfb5de8e_0_166"/>
          <p:cNvSpPr/>
          <p:nvPr/>
        </p:nvSpPr>
        <p:spPr>
          <a:xfrm>
            <a:off x="191150" y="3634900"/>
            <a:ext cx="248297" cy="230978"/>
          </a:xfrm>
          <a:custGeom>
            <a:rect b="b" l="l" r="r" t="t"/>
            <a:pathLst>
              <a:path extrusionOk="0" h="25278" w="25486">
                <a:moveTo>
                  <a:pt x="12746" y="4905"/>
                </a:moveTo>
                <a:cubicBezTo>
                  <a:pt x="13701" y="4905"/>
                  <a:pt x="14672" y="5083"/>
                  <a:pt x="15613" y="5460"/>
                </a:cubicBezTo>
                <a:cubicBezTo>
                  <a:pt x="19580" y="7047"/>
                  <a:pt x="21508" y="11545"/>
                  <a:pt x="19923" y="15511"/>
                </a:cubicBezTo>
                <a:cubicBezTo>
                  <a:pt x="18714" y="18534"/>
                  <a:pt x="15811" y="20374"/>
                  <a:pt x="12742" y="20374"/>
                </a:cubicBezTo>
                <a:cubicBezTo>
                  <a:pt x="11786" y="20374"/>
                  <a:pt x="10814" y="20196"/>
                  <a:pt x="9873" y="19819"/>
                </a:cubicBezTo>
                <a:cubicBezTo>
                  <a:pt x="5908" y="18234"/>
                  <a:pt x="3978" y="13734"/>
                  <a:pt x="5563" y="9769"/>
                </a:cubicBezTo>
                <a:cubicBezTo>
                  <a:pt x="6772" y="6745"/>
                  <a:pt x="9676" y="4905"/>
                  <a:pt x="12746" y="4905"/>
                </a:cubicBezTo>
                <a:close/>
                <a:moveTo>
                  <a:pt x="15551" y="1"/>
                </a:moveTo>
                <a:cubicBezTo>
                  <a:pt x="15240" y="1"/>
                  <a:pt x="14946" y="187"/>
                  <a:pt x="14824" y="492"/>
                </a:cubicBezTo>
                <a:lnTo>
                  <a:pt x="14047" y="2435"/>
                </a:lnTo>
                <a:cubicBezTo>
                  <a:pt x="13612" y="2378"/>
                  <a:pt x="13174" y="2350"/>
                  <a:pt x="12736" y="2350"/>
                </a:cubicBezTo>
                <a:cubicBezTo>
                  <a:pt x="12218" y="2350"/>
                  <a:pt x="11700" y="2390"/>
                  <a:pt x="11187" y="2469"/>
                </a:cubicBezTo>
                <a:lnTo>
                  <a:pt x="10364" y="547"/>
                </a:lnTo>
                <a:cubicBezTo>
                  <a:pt x="10238" y="251"/>
                  <a:pt x="9949" y="73"/>
                  <a:pt x="9646" y="73"/>
                </a:cubicBezTo>
                <a:cubicBezTo>
                  <a:pt x="9543" y="73"/>
                  <a:pt x="9438" y="93"/>
                  <a:pt x="9338" y="137"/>
                </a:cubicBezTo>
                <a:lnTo>
                  <a:pt x="6036" y="1553"/>
                </a:lnTo>
                <a:cubicBezTo>
                  <a:pt x="5640" y="1722"/>
                  <a:pt x="5456" y="2182"/>
                  <a:pt x="5626" y="2579"/>
                </a:cubicBezTo>
                <a:lnTo>
                  <a:pt x="6449" y="4501"/>
                </a:lnTo>
                <a:cubicBezTo>
                  <a:pt x="5690" y="5085"/>
                  <a:pt x="5019" y="5775"/>
                  <a:pt x="4452" y="6549"/>
                </a:cubicBezTo>
                <a:lnTo>
                  <a:pt x="2510" y="5772"/>
                </a:lnTo>
                <a:cubicBezTo>
                  <a:pt x="2414" y="5734"/>
                  <a:pt x="2316" y="5716"/>
                  <a:pt x="2219" y="5716"/>
                </a:cubicBezTo>
                <a:cubicBezTo>
                  <a:pt x="1910" y="5716"/>
                  <a:pt x="1616" y="5901"/>
                  <a:pt x="1493" y="6208"/>
                </a:cubicBezTo>
                <a:lnTo>
                  <a:pt x="161" y="9542"/>
                </a:lnTo>
                <a:cubicBezTo>
                  <a:pt x="0" y="9944"/>
                  <a:pt x="194" y="10398"/>
                  <a:pt x="596" y="10558"/>
                </a:cubicBezTo>
                <a:lnTo>
                  <a:pt x="2537" y="11335"/>
                </a:lnTo>
                <a:cubicBezTo>
                  <a:pt x="2415" y="12285"/>
                  <a:pt x="2426" y="13249"/>
                  <a:pt x="2572" y="14195"/>
                </a:cubicBezTo>
                <a:lnTo>
                  <a:pt x="651" y="15018"/>
                </a:lnTo>
                <a:cubicBezTo>
                  <a:pt x="253" y="15189"/>
                  <a:pt x="71" y="15649"/>
                  <a:pt x="241" y="16046"/>
                </a:cubicBezTo>
                <a:lnTo>
                  <a:pt x="1655" y="19347"/>
                </a:lnTo>
                <a:cubicBezTo>
                  <a:pt x="1781" y="19643"/>
                  <a:pt x="2070" y="19821"/>
                  <a:pt x="2373" y="19821"/>
                </a:cubicBezTo>
                <a:cubicBezTo>
                  <a:pt x="2476" y="19821"/>
                  <a:pt x="2581" y="19800"/>
                  <a:pt x="2681" y="19756"/>
                </a:cubicBezTo>
                <a:lnTo>
                  <a:pt x="4603" y="18933"/>
                </a:lnTo>
                <a:cubicBezTo>
                  <a:pt x="5189" y="19692"/>
                  <a:pt x="5879" y="20365"/>
                  <a:pt x="6651" y="20930"/>
                </a:cubicBezTo>
                <a:lnTo>
                  <a:pt x="5874" y="22873"/>
                </a:lnTo>
                <a:cubicBezTo>
                  <a:pt x="5714" y="23273"/>
                  <a:pt x="5909" y="23728"/>
                  <a:pt x="6310" y="23888"/>
                </a:cubicBezTo>
                <a:lnTo>
                  <a:pt x="9645" y="25222"/>
                </a:lnTo>
                <a:cubicBezTo>
                  <a:pt x="9740" y="25260"/>
                  <a:pt x="9838" y="25278"/>
                  <a:pt x="9935" y="25278"/>
                </a:cubicBezTo>
                <a:cubicBezTo>
                  <a:pt x="10245" y="25278"/>
                  <a:pt x="10538" y="25092"/>
                  <a:pt x="10660" y="24786"/>
                </a:cubicBezTo>
                <a:lnTo>
                  <a:pt x="11437" y="22845"/>
                </a:lnTo>
                <a:cubicBezTo>
                  <a:pt x="11871" y="22901"/>
                  <a:pt x="12308" y="22929"/>
                  <a:pt x="12745" y="22929"/>
                </a:cubicBezTo>
                <a:cubicBezTo>
                  <a:pt x="13264" y="22929"/>
                  <a:pt x="13784" y="22889"/>
                  <a:pt x="14299" y="22810"/>
                </a:cubicBezTo>
                <a:lnTo>
                  <a:pt x="15122" y="24732"/>
                </a:lnTo>
                <a:cubicBezTo>
                  <a:pt x="15248" y="25028"/>
                  <a:pt x="15536" y="25206"/>
                  <a:pt x="15839" y="25206"/>
                </a:cubicBezTo>
                <a:cubicBezTo>
                  <a:pt x="15943" y="25206"/>
                  <a:pt x="16047" y="25185"/>
                  <a:pt x="16148" y="25142"/>
                </a:cubicBezTo>
                <a:lnTo>
                  <a:pt x="19449" y="23728"/>
                </a:lnTo>
                <a:cubicBezTo>
                  <a:pt x="19846" y="23558"/>
                  <a:pt x="20030" y="23098"/>
                  <a:pt x="19860" y="22701"/>
                </a:cubicBezTo>
                <a:lnTo>
                  <a:pt x="19037" y="20780"/>
                </a:lnTo>
                <a:cubicBezTo>
                  <a:pt x="19794" y="20194"/>
                  <a:pt x="20467" y="19503"/>
                  <a:pt x="21034" y="18732"/>
                </a:cubicBezTo>
                <a:lnTo>
                  <a:pt x="22975" y="19508"/>
                </a:lnTo>
                <a:cubicBezTo>
                  <a:pt x="23070" y="19546"/>
                  <a:pt x="23168" y="19564"/>
                  <a:pt x="23265" y="19564"/>
                </a:cubicBezTo>
                <a:cubicBezTo>
                  <a:pt x="23576" y="19564"/>
                  <a:pt x="23869" y="19378"/>
                  <a:pt x="23992" y="19073"/>
                </a:cubicBezTo>
                <a:lnTo>
                  <a:pt x="25326" y="15737"/>
                </a:lnTo>
                <a:cubicBezTo>
                  <a:pt x="25486" y="15337"/>
                  <a:pt x="25290" y="14882"/>
                  <a:pt x="24890" y="14722"/>
                </a:cubicBezTo>
                <a:lnTo>
                  <a:pt x="22948" y="13945"/>
                </a:lnTo>
                <a:cubicBezTo>
                  <a:pt x="23071" y="12994"/>
                  <a:pt x="23060" y="12032"/>
                  <a:pt x="22914" y="11084"/>
                </a:cubicBezTo>
                <a:lnTo>
                  <a:pt x="24835" y="10261"/>
                </a:lnTo>
                <a:cubicBezTo>
                  <a:pt x="25231" y="10091"/>
                  <a:pt x="25415" y="9631"/>
                  <a:pt x="25245" y="9234"/>
                </a:cubicBezTo>
                <a:lnTo>
                  <a:pt x="23830" y="5934"/>
                </a:lnTo>
                <a:cubicBezTo>
                  <a:pt x="23703" y="5637"/>
                  <a:pt x="23414" y="5459"/>
                  <a:pt x="23111" y="5459"/>
                </a:cubicBezTo>
                <a:cubicBezTo>
                  <a:pt x="23008" y="5459"/>
                  <a:pt x="22904" y="5479"/>
                  <a:pt x="22803" y="5522"/>
                </a:cubicBezTo>
                <a:lnTo>
                  <a:pt x="20882" y="6347"/>
                </a:lnTo>
                <a:cubicBezTo>
                  <a:pt x="20297" y="5588"/>
                  <a:pt x="19607" y="4915"/>
                  <a:pt x="18835" y="4348"/>
                </a:cubicBezTo>
                <a:lnTo>
                  <a:pt x="19610" y="2408"/>
                </a:lnTo>
                <a:cubicBezTo>
                  <a:pt x="19770" y="2006"/>
                  <a:pt x="19577" y="1551"/>
                  <a:pt x="19175" y="1391"/>
                </a:cubicBezTo>
                <a:lnTo>
                  <a:pt x="15841" y="57"/>
                </a:lnTo>
                <a:cubicBezTo>
                  <a:pt x="15745" y="19"/>
                  <a:pt x="15647" y="1"/>
                  <a:pt x="155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g3f1dfb5de8e_0_166"/>
          <p:cNvSpPr/>
          <p:nvPr/>
        </p:nvSpPr>
        <p:spPr>
          <a:xfrm>
            <a:off x="191150" y="4419775"/>
            <a:ext cx="248297" cy="230978"/>
          </a:xfrm>
          <a:custGeom>
            <a:rect b="b" l="l" r="r" t="t"/>
            <a:pathLst>
              <a:path extrusionOk="0" h="25278" w="25486">
                <a:moveTo>
                  <a:pt x="12746" y="4905"/>
                </a:moveTo>
                <a:cubicBezTo>
                  <a:pt x="13701" y="4905"/>
                  <a:pt x="14672" y="5083"/>
                  <a:pt x="15613" y="5460"/>
                </a:cubicBezTo>
                <a:cubicBezTo>
                  <a:pt x="19580" y="7047"/>
                  <a:pt x="21508" y="11545"/>
                  <a:pt x="19923" y="15511"/>
                </a:cubicBezTo>
                <a:cubicBezTo>
                  <a:pt x="18714" y="18534"/>
                  <a:pt x="15811" y="20374"/>
                  <a:pt x="12742" y="20374"/>
                </a:cubicBezTo>
                <a:cubicBezTo>
                  <a:pt x="11786" y="20374"/>
                  <a:pt x="10814" y="20196"/>
                  <a:pt x="9873" y="19819"/>
                </a:cubicBezTo>
                <a:cubicBezTo>
                  <a:pt x="5908" y="18234"/>
                  <a:pt x="3978" y="13734"/>
                  <a:pt x="5563" y="9769"/>
                </a:cubicBezTo>
                <a:cubicBezTo>
                  <a:pt x="6772" y="6745"/>
                  <a:pt x="9676" y="4905"/>
                  <a:pt x="12746" y="4905"/>
                </a:cubicBezTo>
                <a:close/>
                <a:moveTo>
                  <a:pt x="15551" y="1"/>
                </a:moveTo>
                <a:cubicBezTo>
                  <a:pt x="15240" y="1"/>
                  <a:pt x="14946" y="187"/>
                  <a:pt x="14824" y="492"/>
                </a:cubicBezTo>
                <a:lnTo>
                  <a:pt x="14047" y="2435"/>
                </a:lnTo>
                <a:cubicBezTo>
                  <a:pt x="13612" y="2378"/>
                  <a:pt x="13174" y="2350"/>
                  <a:pt x="12736" y="2350"/>
                </a:cubicBezTo>
                <a:cubicBezTo>
                  <a:pt x="12218" y="2350"/>
                  <a:pt x="11700" y="2390"/>
                  <a:pt x="11187" y="2469"/>
                </a:cubicBezTo>
                <a:lnTo>
                  <a:pt x="10364" y="547"/>
                </a:lnTo>
                <a:cubicBezTo>
                  <a:pt x="10238" y="251"/>
                  <a:pt x="9949" y="73"/>
                  <a:pt x="9646" y="73"/>
                </a:cubicBezTo>
                <a:cubicBezTo>
                  <a:pt x="9543" y="73"/>
                  <a:pt x="9438" y="93"/>
                  <a:pt x="9338" y="137"/>
                </a:cubicBezTo>
                <a:lnTo>
                  <a:pt x="6036" y="1553"/>
                </a:lnTo>
                <a:cubicBezTo>
                  <a:pt x="5640" y="1722"/>
                  <a:pt x="5456" y="2182"/>
                  <a:pt x="5626" y="2579"/>
                </a:cubicBezTo>
                <a:lnTo>
                  <a:pt x="6449" y="4501"/>
                </a:lnTo>
                <a:cubicBezTo>
                  <a:pt x="5690" y="5085"/>
                  <a:pt x="5019" y="5775"/>
                  <a:pt x="4452" y="6549"/>
                </a:cubicBezTo>
                <a:lnTo>
                  <a:pt x="2510" y="5772"/>
                </a:lnTo>
                <a:cubicBezTo>
                  <a:pt x="2414" y="5734"/>
                  <a:pt x="2316" y="5716"/>
                  <a:pt x="2219" y="5716"/>
                </a:cubicBezTo>
                <a:cubicBezTo>
                  <a:pt x="1910" y="5716"/>
                  <a:pt x="1616" y="5901"/>
                  <a:pt x="1493" y="6208"/>
                </a:cubicBezTo>
                <a:lnTo>
                  <a:pt x="161" y="9542"/>
                </a:lnTo>
                <a:cubicBezTo>
                  <a:pt x="0" y="9944"/>
                  <a:pt x="194" y="10398"/>
                  <a:pt x="596" y="10558"/>
                </a:cubicBezTo>
                <a:lnTo>
                  <a:pt x="2537" y="11335"/>
                </a:lnTo>
                <a:cubicBezTo>
                  <a:pt x="2415" y="12285"/>
                  <a:pt x="2426" y="13249"/>
                  <a:pt x="2572" y="14195"/>
                </a:cubicBezTo>
                <a:lnTo>
                  <a:pt x="651" y="15018"/>
                </a:lnTo>
                <a:cubicBezTo>
                  <a:pt x="253" y="15189"/>
                  <a:pt x="71" y="15649"/>
                  <a:pt x="241" y="16046"/>
                </a:cubicBezTo>
                <a:lnTo>
                  <a:pt x="1655" y="19347"/>
                </a:lnTo>
                <a:cubicBezTo>
                  <a:pt x="1781" y="19643"/>
                  <a:pt x="2070" y="19821"/>
                  <a:pt x="2373" y="19821"/>
                </a:cubicBezTo>
                <a:cubicBezTo>
                  <a:pt x="2476" y="19821"/>
                  <a:pt x="2581" y="19800"/>
                  <a:pt x="2681" y="19756"/>
                </a:cubicBezTo>
                <a:lnTo>
                  <a:pt x="4603" y="18933"/>
                </a:lnTo>
                <a:cubicBezTo>
                  <a:pt x="5189" y="19692"/>
                  <a:pt x="5879" y="20365"/>
                  <a:pt x="6651" y="20930"/>
                </a:cubicBezTo>
                <a:lnTo>
                  <a:pt x="5874" y="22873"/>
                </a:lnTo>
                <a:cubicBezTo>
                  <a:pt x="5714" y="23273"/>
                  <a:pt x="5909" y="23728"/>
                  <a:pt x="6310" y="23888"/>
                </a:cubicBezTo>
                <a:lnTo>
                  <a:pt x="9645" y="25222"/>
                </a:lnTo>
                <a:cubicBezTo>
                  <a:pt x="9740" y="25260"/>
                  <a:pt x="9838" y="25278"/>
                  <a:pt x="9935" y="25278"/>
                </a:cubicBezTo>
                <a:cubicBezTo>
                  <a:pt x="10245" y="25278"/>
                  <a:pt x="10538" y="25092"/>
                  <a:pt x="10660" y="24786"/>
                </a:cubicBezTo>
                <a:lnTo>
                  <a:pt x="11437" y="22845"/>
                </a:lnTo>
                <a:cubicBezTo>
                  <a:pt x="11871" y="22901"/>
                  <a:pt x="12308" y="22929"/>
                  <a:pt x="12745" y="22929"/>
                </a:cubicBezTo>
                <a:cubicBezTo>
                  <a:pt x="13264" y="22929"/>
                  <a:pt x="13784" y="22889"/>
                  <a:pt x="14299" y="22810"/>
                </a:cubicBezTo>
                <a:lnTo>
                  <a:pt x="15122" y="24732"/>
                </a:lnTo>
                <a:cubicBezTo>
                  <a:pt x="15248" y="25028"/>
                  <a:pt x="15536" y="25206"/>
                  <a:pt x="15839" y="25206"/>
                </a:cubicBezTo>
                <a:cubicBezTo>
                  <a:pt x="15943" y="25206"/>
                  <a:pt x="16047" y="25185"/>
                  <a:pt x="16148" y="25142"/>
                </a:cubicBezTo>
                <a:lnTo>
                  <a:pt x="19449" y="23728"/>
                </a:lnTo>
                <a:cubicBezTo>
                  <a:pt x="19846" y="23558"/>
                  <a:pt x="20030" y="23098"/>
                  <a:pt x="19860" y="22701"/>
                </a:cubicBezTo>
                <a:lnTo>
                  <a:pt x="19037" y="20780"/>
                </a:lnTo>
                <a:cubicBezTo>
                  <a:pt x="19794" y="20194"/>
                  <a:pt x="20467" y="19503"/>
                  <a:pt x="21034" y="18732"/>
                </a:cubicBezTo>
                <a:lnTo>
                  <a:pt x="22975" y="19508"/>
                </a:lnTo>
                <a:cubicBezTo>
                  <a:pt x="23070" y="19546"/>
                  <a:pt x="23168" y="19564"/>
                  <a:pt x="23265" y="19564"/>
                </a:cubicBezTo>
                <a:cubicBezTo>
                  <a:pt x="23576" y="19564"/>
                  <a:pt x="23869" y="19378"/>
                  <a:pt x="23992" y="19073"/>
                </a:cubicBezTo>
                <a:lnTo>
                  <a:pt x="25326" y="15737"/>
                </a:lnTo>
                <a:cubicBezTo>
                  <a:pt x="25486" y="15337"/>
                  <a:pt x="25290" y="14882"/>
                  <a:pt x="24890" y="14722"/>
                </a:cubicBezTo>
                <a:lnTo>
                  <a:pt x="22948" y="13945"/>
                </a:lnTo>
                <a:cubicBezTo>
                  <a:pt x="23071" y="12994"/>
                  <a:pt x="23060" y="12032"/>
                  <a:pt x="22914" y="11084"/>
                </a:cubicBezTo>
                <a:lnTo>
                  <a:pt x="24835" y="10261"/>
                </a:lnTo>
                <a:cubicBezTo>
                  <a:pt x="25231" y="10091"/>
                  <a:pt x="25415" y="9631"/>
                  <a:pt x="25245" y="9234"/>
                </a:cubicBezTo>
                <a:lnTo>
                  <a:pt x="23830" y="5934"/>
                </a:lnTo>
                <a:cubicBezTo>
                  <a:pt x="23703" y="5637"/>
                  <a:pt x="23414" y="5459"/>
                  <a:pt x="23111" y="5459"/>
                </a:cubicBezTo>
                <a:cubicBezTo>
                  <a:pt x="23008" y="5459"/>
                  <a:pt x="22904" y="5479"/>
                  <a:pt x="22803" y="5522"/>
                </a:cubicBezTo>
                <a:lnTo>
                  <a:pt x="20882" y="6347"/>
                </a:lnTo>
                <a:cubicBezTo>
                  <a:pt x="20297" y="5588"/>
                  <a:pt x="19607" y="4915"/>
                  <a:pt x="18835" y="4348"/>
                </a:cubicBezTo>
                <a:lnTo>
                  <a:pt x="19610" y="2408"/>
                </a:lnTo>
                <a:cubicBezTo>
                  <a:pt x="19770" y="2006"/>
                  <a:pt x="19577" y="1551"/>
                  <a:pt x="19175" y="1391"/>
                </a:cubicBezTo>
                <a:lnTo>
                  <a:pt x="15841" y="57"/>
                </a:lnTo>
                <a:cubicBezTo>
                  <a:pt x="15745" y="19"/>
                  <a:pt x="15647" y="1"/>
                  <a:pt x="155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6" name="Google Shape;396;g3f1dfb5de8e_0_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5300" y="2404025"/>
            <a:ext cx="4208700" cy="2739475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g3f1dfb5de8e_0_1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f1dfb5de8e_0_188"/>
          <p:cNvSpPr/>
          <p:nvPr/>
        </p:nvSpPr>
        <p:spPr>
          <a:xfrm>
            <a:off x="-44525" y="105850"/>
            <a:ext cx="9144000" cy="6981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g3f1dfb5de8e_0_188"/>
          <p:cNvSpPr/>
          <p:nvPr/>
        </p:nvSpPr>
        <p:spPr>
          <a:xfrm>
            <a:off x="6539550" y="1857925"/>
            <a:ext cx="2476500" cy="532200"/>
          </a:xfrm>
          <a:prstGeom prst="horizontalScroll">
            <a:avLst>
              <a:gd fmla="val 125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g3f1dfb5de8e_0_188"/>
          <p:cNvSpPr/>
          <p:nvPr/>
        </p:nvSpPr>
        <p:spPr>
          <a:xfrm>
            <a:off x="3368000" y="1857925"/>
            <a:ext cx="2476500" cy="532200"/>
          </a:xfrm>
          <a:prstGeom prst="horizontalScroll">
            <a:avLst>
              <a:gd fmla="val 125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g3f1dfb5de8e_0_188"/>
          <p:cNvSpPr/>
          <p:nvPr/>
        </p:nvSpPr>
        <p:spPr>
          <a:xfrm>
            <a:off x="51800" y="1857925"/>
            <a:ext cx="2476500" cy="532200"/>
          </a:xfrm>
          <a:prstGeom prst="horizontalScroll">
            <a:avLst>
              <a:gd fmla="val 125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" name="Google Shape;406;g3f1dfb5de8e_0_188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Conclusiones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407" name="Google Shape;407;g3f1dfb5de8e_0_188"/>
          <p:cNvSpPr txBox="1"/>
          <p:nvPr/>
        </p:nvSpPr>
        <p:spPr>
          <a:xfrm>
            <a:off x="27800" y="2390000"/>
            <a:ext cx="2476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VQE es una herramienta versátil para modelar física de materia condensada y sensores.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8" name="Google Shape;408;g3f1dfb5de8e_0_188"/>
          <p:cNvSpPr txBox="1"/>
          <p:nvPr/>
        </p:nvSpPr>
        <p:spPr>
          <a:xfrm>
            <a:off x="3356025" y="2390000"/>
            <a:ext cx="2476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 simulación de hardware cuántico (sensores) dentro de computadoras cuánticas es viable.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9" name="Google Shape;409;g3f1dfb5de8e_0_188"/>
          <p:cNvSpPr txBox="1"/>
          <p:nvPr/>
        </p:nvSpPr>
        <p:spPr>
          <a:xfrm>
            <a:off x="6684225" y="2347050"/>
            <a:ext cx="24042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Base teórica para magnetómetros de alta precisión a nanoescala y condiciones ambientales.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0" name="Google Shape;410;g3f1dfb5de8e_0_188"/>
          <p:cNvSpPr/>
          <p:nvPr/>
        </p:nvSpPr>
        <p:spPr>
          <a:xfrm>
            <a:off x="141350" y="2007475"/>
            <a:ext cx="2297400" cy="2331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3f1dfb5de8e_0_188"/>
          <p:cNvSpPr/>
          <p:nvPr/>
        </p:nvSpPr>
        <p:spPr>
          <a:xfrm>
            <a:off x="3509300" y="2007475"/>
            <a:ext cx="2229000" cy="2331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f1dfb5de8e_0_188"/>
          <p:cNvSpPr/>
          <p:nvPr/>
        </p:nvSpPr>
        <p:spPr>
          <a:xfrm>
            <a:off x="6663300" y="2007475"/>
            <a:ext cx="2229000" cy="2331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3f1dfb5de8e_0_1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f0676c21e0_0_46"/>
          <p:cNvSpPr/>
          <p:nvPr/>
        </p:nvSpPr>
        <p:spPr>
          <a:xfrm>
            <a:off x="45475" y="1602300"/>
            <a:ext cx="8975700" cy="1938900"/>
          </a:xfrm>
          <a:prstGeom prst="horizontalScroll">
            <a:avLst>
              <a:gd fmla="val 12500" name="adj"/>
            </a:avLst>
          </a:prstGeom>
          <a:solidFill>
            <a:schemeClr val="lt2"/>
          </a:solidFill>
          <a:ln cap="flat" cmpd="sng" w="34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3025" lIns="333025" spcFirstLastPara="1" rIns="333025" wrap="square" tIns="333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g3f0676c21e0_0_46"/>
          <p:cNvSpPr/>
          <p:nvPr/>
        </p:nvSpPr>
        <p:spPr>
          <a:xfrm>
            <a:off x="392000" y="2147075"/>
            <a:ext cx="8543700" cy="8493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333025" lIns="333025" spcFirstLastPara="1" rIns="333025" wrap="square" tIns="333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t/>
            </a:r>
            <a:endParaRPr b="0" i="0" sz="5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3f0676c21e0_0_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1" name="Google Shape;421;g3f0676c21e0_0_46"/>
          <p:cNvSpPr txBox="1"/>
          <p:nvPr/>
        </p:nvSpPr>
        <p:spPr>
          <a:xfrm>
            <a:off x="514700" y="2190725"/>
            <a:ext cx="8366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Gracias, Obrigado, Thank You, 谢谢</a:t>
            </a:r>
            <a:endParaRPr sz="3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ig Data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C64E"/>
      </a:accent1>
      <a:accent2>
        <a:srgbClr val="FF8001"/>
      </a:accent2>
      <a:accent3>
        <a:srgbClr val="5FD0DB"/>
      </a:accent3>
      <a:accent4>
        <a:srgbClr val="32AAD9"/>
      </a:accent4>
      <a:accent5>
        <a:srgbClr val="1A569C"/>
      </a:accent5>
      <a:accent6>
        <a:srgbClr val="D558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